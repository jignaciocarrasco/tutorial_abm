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1" r:id="rId3"/>
    <p:sldId id="293" r:id="rId4"/>
    <p:sldId id="294" r:id="rId5"/>
    <p:sldId id="299" r:id="rId6"/>
    <p:sldId id="281" r:id="rId7"/>
    <p:sldId id="304" r:id="rId8"/>
    <p:sldId id="295" r:id="rId9"/>
    <p:sldId id="289" r:id="rId10"/>
    <p:sldId id="261" r:id="rId11"/>
    <p:sldId id="305" r:id="rId12"/>
    <p:sldId id="303" r:id="rId13"/>
    <p:sldId id="306" r:id="rId14"/>
    <p:sldId id="307" r:id="rId15"/>
    <p:sldId id="308" r:id="rId16"/>
    <p:sldId id="302" r:id="rId17"/>
    <p:sldId id="296" r:id="rId18"/>
    <p:sldId id="276" r:id="rId19"/>
    <p:sldId id="260" r:id="rId20"/>
    <p:sldId id="267" r:id="rId21"/>
    <p:sldId id="268" r:id="rId22"/>
    <p:sldId id="26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3" autoAdjust="0"/>
    <p:restoredTop sz="91633" autoAdjust="0"/>
  </p:normalViewPr>
  <p:slideViewPr>
    <p:cSldViewPr snapToGrid="0">
      <p:cViewPr varScale="1">
        <p:scale>
          <a:sx n="61" d="100"/>
          <a:sy n="61" d="100"/>
        </p:scale>
        <p:origin x="7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DEDBDA-9FCC-480D-972B-BA1E1F52B951}" type="datetimeFigureOut">
              <a:rPr lang="en-GB" smtClean="0"/>
              <a:t>27/06/2023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FDC67-B0EA-4092-A771-27F2B839D1F7}" type="slidenum">
              <a:rPr lang="en-GB" smtClean="0"/>
              <a:t>‹#›</a:t>
            </a:fld>
            <a:endParaRPr lang="en-GB"/>
          </a:p>
        </p:txBody>
      </p:sp>
    </p:spTree>
    <p:extLst>
      <p:ext uri="{BB962C8B-B14F-4D97-AF65-F5344CB8AC3E}">
        <p14:creationId xmlns:p14="http://schemas.microsoft.com/office/powerpoint/2010/main" val="66097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FDC67-B0EA-4092-A771-27F2B839D1F7}" type="slidenum">
              <a:rPr lang="en-GB" smtClean="0"/>
              <a:t>2</a:t>
            </a:fld>
            <a:endParaRPr lang="en-GB"/>
          </a:p>
        </p:txBody>
      </p:sp>
    </p:spTree>
    <p:extLst>
      <p:ext uri="{BB962C8B-B14F-4D97-AF65-F5344CB8AC3E}">
        <p14:creationId xmlns:p14="http://schemas.microsoft.com/office/powerpoint/2010/main" val="3583870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b="1" dirty="0"/>
              <a:t>ABM features:</a:t>
            </a:r>
          </a:p>
          <a:p>
            <a:r>
              <a:rPr lang="en-GB" sz="1200" dirty="0"/>
              <a:t>gents represent </a:t>
            </a:r>
            <a:r>
              <a:rPr lang="en-GB" sz="1200" b="1" dirty="0"/>
              <a:t>individuals.</a:t>
            </a:r>
            <a:r>
              <a:rPr lang="en-GB" sz="1200" dirty="0"/>
              <a:t> </a:t>
            </a:r>
          </a:p>
          <a:p>
            <a:r>
              <a:rPr lang="en-GB" sz="1200" dirty="0"/>
              <a:t>Indirect </a:t>
            </a:r>
            <a:r>
              <a:rPr lang="en-GB" sz="1200" b="1" dirty="0"/>
              <a:t>interaction</a:t>
            </a:r>
            <a:r>
              <a:rPr lang="en-GB" sz="1200" dirty="0"/>
              <a:t> represented through migrant networks.</a:t>
            </a:r>
          </a:p>
          <a:p>
            <a:r>
              <a:rPr lang="en-GB" sz="1200" dirty="0"/>
              <a:t>Two </a:t>
            </a:r>
            <a:r>
              <a:rPr lang="en-GB" sz="1200" b="1" dirty="0"/>
              <a:t>update functions</a:t>
            </a:r>
            <a:r>
              <a:rPr lang="en-GB" sz="1200" dirty="0"/>
              <a:t>: potential to intention; intention to migrant.</a:t>
            </a:r>
          </a:p>
          <a:p>
            <a:r>
              <a:rPr lang="en-GB" sz="1200" dirty="0"/>
              <a:t>Agents </a:t>
            </a:r>
            <a:r>
              <a:rPr lang="en-GB" sz="1200" b="1" dirty="0"/>
              <a:t>properties</a:t>
            </a:r>
            <a:r>
              <a:rPr lang="en-GB" sz="1200" dirty="0"/>
              <a:t>: number of contacts; number of migrant contacts; potential income gain (from migration); potential income loss.</a:t>
            </a:r>
          </a:p>
          <a:p>
            <a:r>
              <a:rPr lang="en-GB" sz="1200" b="1" dirty="0"/>
              <a:t>Time</a:t>
            </a:r>
            <a:r>
              <a:rPr lang="en-GB" sz="1200" dirty="0"/>
              <a:t> scale: years. </a:t>
            </a:r>
          </a:p>
          <a:p>
            <a:r>
              <a:rPr lang="en-GB" sz="1200" dirty="0"/>
              <a:t>Simulation </a:t>
            </a:r>
            <a:r>
              <a:rPr lang="en-GB" sz="1200" b="1" dirty="0"/>
              <a:t>parameters</a:t>
            </a:r>
            <a:r>
              <a:rPr lang="en-GB" sz="1200" dirty="0"/>
              <a:t>: N, income gain vs loss ratio threshold; mean of ability distribution; number of migrants at t</a:t>
            </a:r>
            <a:r>
              <a:rPr lang="en-GB" sz="1200" baseline="-25000" dirty="0"/>
              <a:t>0</a:t>
            </a:r>
            <a:r>
              <a:rPr lang="en-GB" sz="1200" dirty="0"/>
              <a:t> .</a:t>
            </a:r>
            <a:endParaRPr lang="en-GB" sz="1200" baseline="-25000" dirty="0"/>
          </a:p>
          <a:p>
            <a:endParaRPr lang="en-GB" sz="1200" dirty="0"/>
          </a:p>
          <a:p>
            <a:endParaRPr lang="en-GB" dirty="0"/>
          </a:p>
        </p:txBody>
      </p:sp>
      <p:sp>
        <p:nvSpPr>
          <p:cNvPr id="4" name="Slide Number Placeholder 3"/>
          <p:cNvSpPr>
            <a:spLocks noGrp="1"/>
          </p:cNvSpPr>
          <p:nvPr>
            <p:ph type="sldNum" sz="quarter" idx="5"/>
          </p:nvPr>
        </p:nvSpPr>
        <p:spPr/>
        <p:txBody>
          <a:bodyPr/>
          <a:lstStyle/>
          <a:p>
            <a:fld id="{D178E59D-10A7-40D8-B34F-C962BC77892D}" type="slidenum">
              <a:rPr lang="en-GB" smtClean="0"/>
              <a:t>6</a:t>
            </a:fld>
            <a:endParaRPr lang="en-GB" dirty="0"/>
          </a:p>
        </p:txBody>
      </p:sp>
    </p:spTree>
    <p:extLst>
      <p:ext uri="{BB962C8B-B14F-4D97-AF65-F5344CB8AC3E}">
        <p14:creationId xmlns:p14="http://schemas.microsoft.com/office/powerpoint/2010/main" val="1492814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59F49-B9CD-314C-AFDB-F91A784F04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A8FEB8D-14FF-59F7-AC9C-6B102C7D02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4CDDD74-251C-F3DE-6644-CAEEAAD29E0F}"/>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E5CC3EC0-C0B9-9620-BF60-6BF2CC5B57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DA9156-FECF-CE31-897D-4718F43BD91F}"/>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3777869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9F5D-1AB0-D38E-953E-9E8C4EE7731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FD6AA1B-BAC4-6776-B4C3-A62944846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F15ED1-5E5C-EB42-BC74-044007421595}"/>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3CCDEE94-7206-30B5-A873-3DBE57C12E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244C60-9852-C4CB-FF53-78710892C6D8}"/>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2024189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7CE9-90D2-1FFC-7087-53713B4E37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6A542AF-0869-CAC6-BE1C-6BA6806238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E085AC-C1CD-D823-3619-921D5D87DE5F}"/>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922C78D5-54D1-2C3E-0395-D23B5B57C9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F78BF8-F051-4082-5CD8-232A81070289}"/>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2215166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4253-0AD6-FD07-4806-E3801E0C5B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6B8E142-C66E-1D24-D218-1D1244B063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6B72D4-BE9C-E346-E4FE-EEB4DE5A9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0F76DD0-0D03-A513-C4C3-B791E2B1264C}"/>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6" name="Footer Placeholder 5">
            <a:extLst>
              <a:ext uri="{FF2B5EF4-FFF2-40B4-BE49-F238E27FC236}">
                <a16:creationId xmlns:a16="http://schemas.microsoft.com/office/drawing/2014/main" id="{BAF21589-DB56-6870-BCBA-AD233478CB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C6770B-7EDC-1B6E-3196-0DC9034819A7}"/>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260119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33B2-120F-3B4A-2AE0-64604731CCA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652FE5F-AF3B-E779-AB0D-8EF6402515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17B1B6-862D-BF98-84BF-CB4D03C5E6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163FFC-46FF-3DDC-E9D7-BCF29A92F8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A9AAD8-2B2A-02F1-CFC9-F686CDD1D8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4EDB4B4-7B8E-41F1-6523-0F4522A8DD19}"/>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8" name="Footer Placeholder 7">
            <a:extLst>
              <a:ext uri="{FF2B5EF4-FFF2-40B4-BE49-F238E27FC236}">
                <a16:creationId xmlns:a16="http://schemas.microsoft.com/office/drawing/2014/main" id="{E40B27CA-89CE-1622-75B0-CD84FDCFBF8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52408D2-A989-4466-5AC6-15FC8B635759}"/>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236681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7CD5C-A13B-B308-D2EB-E664AD45F25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BB30B0D-84A4-2C1E-4E5D-94995579B35B}"/>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4" name="Footer Placeholder 3">
            <a:extLst>
              <a:ext uri="{FF2B5EF4-FFF2-40B4-BE49-F238E27FC236}">
                <a16:creationId xmlns:a16="http://schemas.microsoft.com/office/drawing/2014/main" id="{0840BB42-7163-088E-C3DA-F254AA0B626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38517CD-58DE-C03D-40A9-CD73009A56B6}"/>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458496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09874-D0E8-3F41-BA93-2299CBD57B6B}"/>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3" name="Footer Placeholder 2">
            <a:extLst>
              <a:ext uri="{FF2B5EF4-FFF2-40B4-BE49-F238E27FC236}">
                <a16:creationId xmlns:a16="http://schemas.microsoft.com/office/drawing/2014/main" id="{BCE53974-8C61-EF18-8987-DE17CE842A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4A67FAD-ED31-394D-8093-88514B8ABACD}"/>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1823130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0290-D4BF-B497-704E-97FA0424A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425D62-EE99-628E-67A0-313F674355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427FE07-177E-086D-45F2-EFDBB0A67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DD75B-A125-A163-3F5E-EF71653FC4BE}"/>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6" name="Footer Placeholder 5">
            <a:extLst>
              <a:ext uri="{FF2B5EF4-FFF2-40B4-BE49-F238E27FC236}">
                <a16:creationId xmlns:a16="http://schemas.microsoft.com/office/drawing/2014/main" id="{BF3211D1-5128-ED0B-2CF2-35129E8923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344D146-D9C2-9645-B60A-49579B12857F}"/>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345558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6FD5-6BC2-3C4A-8E70-772A5AB41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385B5A6-723A-B8F7-B70C-DE5BF0978B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6DFBE3C-C486-53DF-539D-624EB3BDC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90BA0E-588D-FD2A-55F3-6E696B93B57E}"/>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6" name="Footer Placeholder 5">
            <a:extLst>
              <a:ext uri="{FF2B5EF4-FFF2-40B4-BE49-F238E27FC236}">
                <a16:creationId xmlns:a16="http://schemas.microsoft.com/office/drawing/2014/main" id="{D34E384E-A406-5C18-BABA-6DA36E741A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8B8390-0914-7CAE-3778-A27DE0EF27C3}"/>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4096605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36C0-12F0-C175-C923-C32DF7888EF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F36D0D2-451C-1C87-BD5A-C07F93E78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2092B3-9744-62BE-B609-2B7D8909377D}"/>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97436276-B438-6CFF-F26F-5D3442AA0F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383BB7-1325-651E-825B-FC4D89115725}"/>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3764236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CFEED-E445-C607-F24B-299810591B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2BA034-6F0A-C61C-72E3-4B5CD90C8B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94473C-F78D-53B2-9BF9-8E57BF97326A}"/>
              </a:ext>
            </a:extLst>
          </p:cNvPr>
          <p:cNvSpPr>
            <a:spLocks noGrp="1"/>
          </p:cNvSpPr>
          <p:nvPr>
            <p:ph type="dt" sz="half" idx="10"/>
          </p:nvPr>
        </p:nvSpPr>
        <p:spPr/>
        <p:txBody>
          <a:body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1CD29CE5-2ED7-67E6-C4E4-CA18569E33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D76485-B256-8C17-AFFB-BB8D7AA93238}"/>
              </a:ext>
            </a:extLst>
          </p:cNvPr>
          <p:cNvSpPr>
            <a:spLocks noGrp="1"/>
          </p:cNvSpPr>
          <p:nvPr>
            <p:ph type="sldNum" sz="quarter" idx="12"/>
          </p:nvPr>
        </p:nvSpPr>
        <p:spPr/>
        <p:txBody>
          <a:bodyPr/>
          <a:lstStyle/>
          <a:p>
            <a:fld id="{1D3B48F4-73C3-4E8F-BD7B-895577ABFDE0}" type="slidenum">
              <a:rPr lang="en-GB" smtClean="0"/>
              <a:t>‹#›</a:t>
            </a:fld>
            <a:endParaRPr lang="en-GB"/>
          </a:p>
        </p:txBody>
      </p:sp>
    </p:spTree>
    <p:extLst>
      <p:ext uri="{BB962C8B-B14F-4D97-AF65-F5344CB8AC3E}">
        <p14:creationId xmlns:p14="http://schemas.microsoft.com/office/powerpoint/2010/main" val="414713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A031C7-B8A3-0EB4-9B0C-560A447CD3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1EC7C0-8C56-46E6-E972-C362A9C7B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8E32EC-95EC-4C19-01A5-BE2BF45C46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2253EC-2B96-46F7-A76F-FC176A980E50}" type="datetimeFigureOut">
              <a:rPr lang="en-GB" smtClean="0"/>
              <a:t>27/06/2023</a:t>
            </a:fld>
            <a:endParaRPr lang="en-GB"/>
          </a:p>
        </p:txBody>
      </p:sp>
      <p:sp>
        <p:nvSpPr>
          <p:cNvPr id="5" name="Footer Placeholder 4">
            <a:extLst>
              <a:ext uri="{FF2B5EF4-FFF2-40B4-BE49-F238E27FC236}">
                <a16:creationId xmlns:a16="http://schemas.microsoft.com/office/drawing/2014/main" id="{94D44602-E6C0-BB03-BB07-1A12253968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5D16ECA-E4A3-FC71-48A5-CAA5B581CD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B48F4-73C3-4E8F-BD7B-895577ABFDE0}" type="slidenum">
              <a:rPr lang="en-GB" smtClean="0"/>
              <a:t>‹#›</a:t>
            </a:fld>
            <a:endParaRPr lang="en-GB"/>
          </a:p>
        </p:txBody>
      </p:sp>
    </p:spTree>
    <p:extLst>
      <p:ext uri="{BB962C8B-B14F-4D97-AF65-F5344CB8AC3E}">
        <p14:creationId xmlns:p14="http://schemas.microsoft.com/office/powerpoint/2010/main" val="401648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V4f_1_r80R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cl.northwestern.edu/netlogo/models/Virus" TargetMode="External"/><Relationship Id="rId2" Type="http://schemas.openxmlformats.org/officeDocument/2006/relationships/hyperlink" Target="http://www.netlogoweb.org/launch#http://ccl.northwestern.edu/netlogo/models/models/Sample%20Models/Biology/Virus.nlogo"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demographic-research.org/authors/40.htm" TargetMode="External"/><Relationship Id="rId2" Type="http://schemas.openxmlformats.org/officeDocument/2006/relationships/hyperlink" Target="https://www.demographic-research.org/authors/103.htm" TargetMode="External"/><Relationship Id="rId1" Type="http://schemas.openxmlformats.org/officeDocument/2006/relationships/slideLayout" Target="../slideLayouts/slideLayout2.xml"/><Relationship Id="rId5" Type="http://schemas.openxmlformats.org/officeDocument/2006/relationships/hyperlink" Target="https://doi.org/10.1007/978-3-319-32283-4" TargetMode="External"/><Relationship Id="rId4" Type="http://schemas.openxmlformats.org/officeDocument/2006/relationships/hyperlink" Target="https://www.demographic-research.org/authors/514.ht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56863-1DEA-5FF5-7D57-2E17A8788055}"/>
              </a:ext>
            </a:extLst>
          </p:cNvPr>
          <p:cNvSpPr>
            <a:spLocks noGrp="1"/>
          </p:cNvSpPr>
          <p:nvPr>
            <p:ph type="ctrTitle"/>
          </p:nvPr>
        </p:nvSpPr>
        <p:spPr>
          <a:xfrm>
            <a:off x="709160" y="2119498"/>
            <a:ext cx="11482840" cy="1033928"/>
          </a:xfrm>
        </p:spPr>
        <p:txBody>
          <a:bodyPr>
            <a:normAutofit fontScale="90000"/>
          </a:bodyPr>
          <a:lstStyle/>
          <a:p>
            <a:pPr algn="l"/>
            <a:r>
              <a:rPr lang="en-GB" sz="4800" dirty="0">
                <a:latin typeface="Google Sans"/>
              </a:rPr>
              <a:t>Using survey-based ABM in migration research.</a:t>
            </a:r>
            <a:endParaRPr lang="en-GB" sz="4800" dirty="0"/>
          </a:p>
        </p:txBody>
      </p:sp>
      <p:sp>
        <p:nvSpPr>
          <p:cNvPr id="3" name="Subtitle 2">
            <a:extLst>
              <a:ext uri="{FF2B5EF4-FFF2-40B4-BE49-F238E27FC236}">
                <a16:creationId xmlns:a16="http://schemas.microsoft.com/office/drawing/2014/main" id="{3F771092-8C5E-44E6-C821-98FA6C9B4B22}"/>
              </a:ext>
            </a:extLst>
          </p:cNvPr>
          <p:cNvSpPr>
            <a:spLocks noGrp="1"/>
          </p:cNvSpPr>
          <p:nvPr>
            <p:ph type="subTitle" idx="1"/>
          </p:nvPr>
        </p:nvSpPr>
        <p:spPr>
          <a:xfrm>
            <a:off x="709160" y="4270097"/>
            <a:ext cx="6404260" cy="1731176"/>
          </a:xfrm>
        </p:spPr>
        <p:txBody>
          <a:bodyPr>
            <a:normAutofit/>
          </a:bodyPr>
          <a:lstStyle/>
          <a:p>
            <a:pPr algn="l"/>
            <a:r>
              <a:rPr lang="es-ES" dirty="0"/>
              <a:t>Ignacio Carrasco</a:t>
            </a:r>
          </a:p>
          <a:p>
            <a:pPr algn="l"/>
            <a:r>
              <a:rPr lang="es-ES" dirty="0"/>
              <a:t>PhD </a:t>
            </a:r>
            <a:r>
              <a:rPr lang="es-ES" dirty="0" err="1"/>
              <a:t>student</a:t>
            </a:r>
            <a:r>
              <a:rPr lang="es-ES" dirty="0"/>
              <a:t> at </a:t>
            </a:r>
            <a:r>
              <a:rPr lang="es-ES" dirty="0" err="1"/>
              <a:t>University</a:t>
            </a:r>
            <a:r>
              <a:rPr lang="es-ES" dirty="0"/>
              <a:t> Pompeu Fabra (UPF)</a:t>
            </a:r>
          </a:p>
          <a:p>
            <a:pPr algn="l"/>
            <a:r>
              <a:rPr lang="es-ES" dirty="0"/>
              <a:t>Supervisor: </a:t>
            </a:r>
            <a:r>
              <a:rPr lang="es-ES" dirty="0" err="1"/>
              <a:t>Professor</a:t>
            </a:r>
            <a:r>
              <a:rPr lang="es-ES" dirty="0"/>
              <a:t> Pau </a:t>
            </a:r>
            <a:r>
              <a:rPr lang="es-ES" dirty="0" err="1"/>
              <a:t>Baizán</a:t>
            </a:r>
            <a:endParaRPr lang="en-GB" dirty="0"/>
          </a:p>
        </p:txBody>
      </p:sp>
      <p:pic>
        <p:nvPicPr>
          <p:cNvPr id="9" name="Picture 8" descr="Graphical user interface&#10;&#10;Description automatically generated with low confidence">
            <a:extLst>
              <a:ext uri="{FF2B5EF4-FFF2-40B4-BE49-F238E27FC236}">
                <a16:creationId xmlns:a16="http://schemas.microsoft.com/office/drawing/2014/main" id="{BEFC95B1-BCB5-EB29-2AF2-87693A74E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8349" y="444057"/>
            <a:ext cx="3448050" cy="1323975"/>
          </a:xfrm>
          <a:prstGeom prst="rect">
            <a:avLst/>
          </a:prstGeom>
        </p:spPr>
      </p:pic>
      <p:sp>
        <p:nvSpPr>
          <p:cNvPr id="5" name="Title 1">
            <a:extLst>
              <a:ext uri="{FF2B5EF4-FFF2-40B4-BE49-F238E27FC236}">
                <a16:creationId xmlns:a16="http://schemas.microsoft.com/office/drawing/2014/main" id="{582EB24D-B8E2-7484-060B-978F153DF89E}"/>
              </a:ext>
            </a:extLst>
          </p:cNvPr>
          <p:cNvSpPr txBox="1">
            <a:spLocks/>
          </p:cNvSpPr>
          <p:nvPr/>
        </p:nvSpPr>
        <p:spPr>
          <a:xfrm>
            <a:off x="709160" y="3048717"/>
            <a:ext cx="10702303" cy="9123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latin typeface="Google Sans"/>
              </a:rPr>
              <a:t>MPIDR Summer Incubator Program 2023 tutorials.</a:t>
            </a:r>
          </a:p>
        </p:txBody>
      </p:sp>
    </p:spTree>
    <p:extLst>
      <p:ext uri="{BB962C8B-B14F-4D97-AF65-F5344CB8AC3E}">
        <p14:creationId xmlns:p14="http://schemas.microsoft.com/office/powerpoint/2010/main" val="2283868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22F83-EA54-B630-935F-FB12184E605A}"/>
              </a:ext>
            </a:extLst>
          </p:cNvPr>
          <p:cNvSpPr>
            <a:spLocks noGrp="1"/>
          </p:cNvSpPr>
          <p:nvPr>
            <p:ph type="title"/>
          </p:nvPr>
        </p:nvSpPr>
        <p:spPr/>
        <p:txBody>
          <a:bodyPr/>
          <a:lstStyle/>
          <a:p>
            <a:r>
              <a:rPr lang="es-ES" dirty="0" err="1"/>
              <a:t>Structure</a:t>
            </a:r>
            <a:endParaRPr lang="en-GB" dirty="0"/>
          </a:p>
        </p:txBody>
      </p:sp>
      <p:sp>
        <p:nvSpPr>
          <p:cNvPr id="3" name="Content Placeholder 2">
            <a:extLst>
              <a:ext uri="{FF2B5EF4-FFF2-40B4-BE49-F238E27FC236}">
                <a16:creationId xmlns:a16="http://schemas.microsoft.com/office/drawing/2014/main" id="{59F83986-57A7-1335-ADBA-66281645B0D3}"/>
              </a:ext>
            </a:extLst>
          </p:cNvPr>
          <p:cNvSpPr>
            <a:spLocks noGrp="1"/>
          </p:cNvSpPr>
          <p:nvPr>
            <p:ph idx="1"/>
          </p:nvPr>
        </p:nvSpPr>
        <p:spPr>
          <a:xfrm>
            <a:off x="838200" y="1825624"/>
            <a:ext cx="10515600" cy="1747893"/>
          </a:xfrm>
        </p:spPr>
        <p:txBody>
          <a:bodyPr>
            <a:normAutofit/>
          </a:bodyPr>
          <a:lstStyle/>
          <a:p>
            <a:pPr marL="514350" indent="-514350">
              <a:buFont typeface="+mj-lt"/>
              <a:buAutoNum type="arabicPeriod"/>
            </a:pPr>
            <a:r>
              <a:rPr lang="en-US" dirty="0"/>
              <a:t>Agent-based models: what is this method and why to use it?</a:t>
            </a:r>
          </a:p>
          <a:p>
            <a:pPr marL="514350" indent="-514350">
              <a:buFont typeface="+mj-lt"/>
              <a:buAutoNum type="arabicPeriod"/>
            </a:pPr>
            <a:r>
              <a:rPr lang="en-US" dirty="0"/>
              <a:t>Some examples + code.</a:t>
            </a:r>
          </a:p>
          <a:p>
            <a:pPr marL="514350" indent="-514350">
              <a:buFont typeface="+mj-lt"/>
              <a:buAutoNum type="arabicPeriod"/>
            </a:pPr>
            <a:r>
              <a:rPr lang="en-US" dirty="0"/>
              <a:t>Survey-based ABM + code</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2737110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CED7-0004-4B27-1C4F-A0A7199DF47A}"/>
              </a:ext>
            </a:extLst>
          </p:cNvPr>
          <p:cNvSpPr>
            <a:spLocks noGrp="1"/>
          </p:cNvSpPr>
          <p:nvPr>
            <p:ph type="title"/>
          </p:nvPr>
        </p:nvSpPr>
        <p:spPr/>
        <p:txBody>
          <a:bodyPr>
            <a:normAutofit/>
          </a:bodyPr>
          <a:lstStyle/>
          <a:p>
            <a:r>
              <a:rPr lang="en-US" dirty="0"/>
              <a:t>Agent-based models: what is this method and why to use it? </a:t>
            </a:r>
          </a:p>
        </p:txBody>
      </p:sp>
      <p:sp>
        <p:nvSpPr>
          <p:cNvPr id="3" name="Content Placeholder 2">
            <a:extLst>
              <a:ext uri="{FF2B5EF4-FFF2-40B4-BE49-F238E27FC236}">
                <a16:creationId xmlns:a16="http://schemas.microsoft.com/office/drawing/2014/main" id="{06EAD3D5-50DE-59D4-9245-A3B0FF8834D1}"/>
              </a:ext>
            </a:extLst>
          </p:cNvPr>
          <p:cNvSpPr>
            <a:spLocks noGrp="1"/>
          </p:cNvSpPr>
          <p:nvPr>
            <p:ph idx="1"/>
          </p:nvPr>
        </p:nvSpPr>
        <p:spPr>
          <a:xfrm>
            <a:off x="838200" y="1920217"/>
            <a:ext cx="10515600" cy="4806403"/>
          </a:xfrm>
        </p:spPr>
        <p:txBody>
          <a:bodyPr>
            <a:normAutofit/>
          </a:bodyPr>
          <a:lstStyle/>
          <a:p>
            <a:pPr lvl="1">
              <a:buFontTx/>
              <a:buChar char="-"/>
            </a:pPr>
            <a:endParaRPr lang="en-US" sz="2200" dirty="0">
              <a:latin typeface="Times New Roman" panose="02020603050405020304" pitchFamily="18" charset="0"/>
              <a:ea typeface="Times New Roman" panose="02020603050405020304" pitchFamily="18" charset="0"/>
            </a:endParaRPr>
          </a:p>
          <a:p>
            <a:pPr marL="457200" lvl="1" indent="0">
              <a:buNone/>
            </a:pPr>
            <a:r>
              <a:rPr lang="en-US" dirty="0">
                <a:hlinkClick r:id="rId2"/>
              </a:rPr>
              <a:t>Link</a:t>
            </a:r>
            <a:r>
              <a:rPr lang="en-US" dirty="0"/>
              <a:t> starlings movement.</a:t>
            </a:r>
          </a:p>
          <a:p>
            <a:pPr marL="457200" lvl="1" indent="0">
              <a:buNone/>
            </a:pPr>
            <a:endParaRPr lang="en-US" dirty="0"/>
          </a:p>
          <a:p>
            <a:pPr lvl="1">
              <a:buFontTx/>
              <a:buChar char="-"/>
            </a:pPr>
            <a:r>
              <a:rPr lang="en-US" sz="2400" dirty="0">
                <a:latin typeface="Times New Roman" panose="02020603050405020304" pitchFamily="18" charset="0"/>
                <a:ea typeface="Times New Roman" panose="02020603050405020304" pitchFamily="18" charset="0"/>
              </a:rPr>
              <a:t>Modelling purposes: </a:t>
            </a:r>
            <a:r>
              <a:rPr lang="en-US" sz="2400" dirty="0">
                <a:latin typeface="Times New Roman" panose="02020603050405020304" pitchFamily="18" charset="0"/>
              </a:rPr>
              <a:t>describe, explain, predict (</a:t>
            </a:r>
            <a:r>
              <a:rPr lang="ca-ES" sz="2400" dirty="0" err="1">
                <a:latin typeface="Times New Roman" panose="02020603050405020304" pitchFamily="18" charset="0"/>
              </a:rPr>
              <a:t>Edmonds</a:t>
            </a:r>
            <a:r>
              <a:rPr lang="ca-ES" sz="2400" dirty="0">
                <a:latin typeface="Times New Roman" panose="02020603050405020304" pitchFamily="18" charset="0"/>
              </a:rPr>
              <a:t> et al., 2019)</a:t>
            </a:r>
            <a:r>
              <a:rPr lang="en-US" sz="2400" dirty="0">
                <a:latin typeface="Times New Roman" panose="02020603050405020304" pitchFamily="18" charset="0"/>
              </a:rPr>
              <a:t>.</a:t>
            </a:r>
          </a:p>
          <a:p>
            <a:pPr lvl="1">
              <a:buFontTx/>
              <a:buChar char="-"/>
            </a:pPr>
            <a:r>
              <a:rPr lang="en-US" sz="2400" dirty="0">
                <a:effectLst/>
                <a:latin typeface="Times New Roman" panose="02020603050405020304" pitchFamily="18" charset="0"/>
                <a:ea typeface="Times New Roman" panose="02020603050405020304" pitchFamily="18" charset="0"/>
              </a:rPr>
              <a:t>B</a:t>
            </a:r>
            <a:r>
              <a:rPr lang="en-US" sz="2400" dirty="0">
                <a:latin typeface="Times New Roman" panose="02020603050405020304" pitchFamily="18" charset="0"/>
              </a:rPr>
              <a:t>ottom-up / microlevel approach vs Top-down / Macrolevel approach</a:t>
            </a:r>
          </a:p>
          <a:p>
            <a:pPr lvl="1">
              <a:buFontTx/>
              <a:buChar char="-"/>
            </a:pPr>
            <a:r>
              <a:rPr lang="en-US" sz="2400" dirty="0">
                <a:latin typeface="Times New Roman" panose="02020603050405020304" pitchFamily="18" charset="0"/>
                <a:ea typeface="Times New Roman" panose="02020603050405020304" pitchFamily="18" charset="0"/>
              </a:rPr>
              <a:t>S</a:t>
            </a:r>
            <a:r>
              <a:rPr lang="en-US" sz="2400" dirty="0">
                <a:effectLst/>
                <a:latin typeface="Times New Roman" panose="02020603050405020304" pitchFamily="18" charset="0"/>
                <a:ea typeface="Times New Roman" panose="02020603050405020304" pitchFamily="18" charset="0"/>
              </a:rPr>
              <a:t>imulate agents with built-in </a:t>
            </a:r>
            <a:r>
              <a:rPr lang="en-US" sz="2400" dirty="0" err="1">
                <a:effectLst/>
                <a:latin typeface="Times New Roman" panose="02020603050405020304" pitchFamily="18" charset="0"/>
                <a:ea typeface="Times New Roman" panose="02020603050405020304" pitchFamily="18" charset="0"/>
              </a:rPr>
              <a:t>behavioural</a:t>
            </a:r>
            <a:r>
              <a:rPr lang="en-US" sz="2400" dirty="0">
                <a:effectLst/>
                <a:latin typeface="Times New Roman" panose="02020603050405020304" pitchFamily="18" charset="0"/>
                <a:ea typeface="Times New Roman" panose="02020603050405020304" pitchFamily="18" charset="0"/>
              </a:rPr>
              <a:t> rules of action and their interactions.</a:t>
            </a:r>
          </a:p>
          <a:p>
            <a:pPr lvl="1">
              <a:buFontTx/>
              <a:buChar char="-"/>
            </a:pPr>
            <a:r>
              <a:rPr lang="en-US" sz="2400" dirty="0">
                <a:latin typeface="Times New Roman" panose="02020603050405020304" pitchFamily="18" charset="0"/>
              </a:rPr>
              <a:t>Incorporating transitions to conceptually relevant states</a:t>
            </a:r>
            <a:endParaRPr lang="en-US" sz="2400" dirty="0">
              <a:effectLst/>
              <a:latin typeface="Times New Roman" panose="02020603050405020304" pitchFamily="18" charset="0"/>
              <a:ea typeface="Times New Roman" panose="02020603050405020304" pitchFamily="18" charset="0"/>
            </a:endParaRPr>
          </a:p>
          <a:p>
            <a:pPr lvl="1">
              <a:buFontTx/>
              <a:buChar char="-"/>
            </a:pPr>
            <a:r>
              <a:rPr lang="en-US" sz="2400" dirty="0">
                <a:latin typeface="Times New Roman" panose="02020603050405020304" pitchFamily="18" charset="0"/>
                <a:ea typeface="Times New Roman" panose="02020603050405020304" pitchFamily="18" charset="0"/>
              </a:rPr>
              <a:t>T</a:t>
            </a:r>
            <a:r>
              <a:rPr lang="en-US" sz="2400" dirty="0">
                <a:effectLst/>
                <a:latin typeface="Times New Roman" panose="02020603050405020304" pitchFamily="18" charset="0"/>
                <a:ea typeface="Times New Roman" panose="02020603050405020304" pitchFamily="18" charset="0"/>
              </a:rPr>
              <a:t>o study the emergence of global patterns</a:t>
            </a:r>
            <a:r>
              <a:rPr lang="ca-ES" sz="2400" dirty="0">
                <a:effectLst/>
                <a:latin typeface="Times New Roman" panose="02020603050405020304" pitchFamily="18" charset="0"/>
                <a:ea typeface="Times New Roman" panose="02020603050405020304" pitchFamily="18" charset="0"/>
              </a:rPr>
              <a:t>.</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1344563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D40A-C27C-2F60-B113-491ACE29CFAA}"/>
              </a:ext>
            </a:extLst>
          </p:cNvPr>
          <p:cNvSpPr>
            <a:spLocks noGrp="1"/>
          </p:cNvSpPr>
          <p:nvPr>
            <p:ph type="title"/>
          </p:nvPr>
        </p:nvSpPr>
        <p:spPr/>
        <p:txBody>
          <a:bodyPr>
            <a:normAutofit/>
          </a:bodyPr>
          <a:lstStyle/>
          <a:p>
            <a:r>
              <a:rPr lang="en-US" dirty="0"/>
              <a:t>Some classic examples:</a:t>
            </a:r>
          </a:p>
        </p:txBody>
      </p:sp>
      <p:sp>
        <p:nvSpPr>
          <p:cNvPr id="3" name="Content Placeholder 2">
            <a:extLst>
              <a:ext uri="{FF2B5EF4-FFF2-40B4-BE49-F238E27FC236}">
                <a16:creationId xmlns:a16="http://schemas.microsoft.com/office/drawing/2014/main" id="{ECB04CF2-F965-9EFA-8853-569BB278AA47}"/>
              </a:ext>
            </a:extLst>
          </p:cNvPr>
          <p:cNvSpPr>
            <a:spLocks noGrp="1"/>
          </p:cNvSpPr>
          <p:nvPr>
            <p:ph idx="1"/>
          </p:nvPr>
        </p:nvSpPr>
        <p:spPr/>
        <p:txBody>
          <a:bodyPr/>
          <a:lstStyle/>
          <a:p>
            <a:r>
              <a:rPr lang="en-US" dirty="0"/>
              <a:t>Example 1: Starlings + documentation. In </a:t>
            </a:r>
            <a:r>
              <a:rPr lang="en-US" dirty="0" err="1"/>
              <a:t>Netlog</a:t>
            </a:r>
            <a:r>
              <a:rPr lang="en-US" dirty="0"/>
              <a:t> program.</a:t>
            </a:r>
          </a:p>
          <a:p>
            <a:r>
              <a:rPr lang="en-US" dirty="0"/>
              <a:t>Example 2: </a:t>
            </a:r>
            <a:r>
              <a:rPr lang="en-US" dirty="0">
                <a:hlinkClick r:id="rId2"/>
              </a:rPr>
              <a:t>Virus</a:t>
            </a:r>
            <a:r>
              <a:rPr lang="en-US" dirty="0"/>
              <a:t> + </a:t>
            </a:r>
            <a:r>
              <a:rPr lang="en-US" dirty="0">
                <a:hlinkClick r:id="rId3"/>
              </a:rPr>
              <a:t>documentation</a:t>
            </a:r>
            <a:r>
              <a:rPr lang="en-US" dirty="0"/>
              <a:t>. In </a:t>
            </a:r>
            <a:r>
              <a:rPr lang="en-US" dirty="0" err="1"/>
              <a:t>Netlogo</a:t>
            </a:r>
            <a:r>
              <a:rPr lang="en-US" dirty="0"/>
              <a:t> webpage.</a:t>
            </a:r>
          </a:p>
          <a:p>
            <a:pPr marL="0" indent="0">
              <a:buNone/>
            </a:pPr>
            <a:endParaRPr lang="en-US" dirty="0"/>
          </a:p>
          <a:p>
            <a:pPr marL="0" indent="0">
              <a:buNone/>
            </a:pPr>
            <a:r>
              <a:rPr lang="en-US" dirty="0"/>
              <a:t>Highlights:</a:t>
            </a:r>
          </a:p>
          <a:p>
            <a:r>
              <a:rPr lang="en-US" dirty="0"/>
              <a:t>Rules of behavior, mechanisms, parameters, setup, run.</a:t>
            </a:r>
          </a:p>
          <a:p>
            <a:r>
              <a:rPr lang="en-US" dirty="0"/>
              <a:t>Aggregate level information.</a:t>
            </a:r>
          </a:p>
          <a:p>
            <a:r>
              <a:rPr lang="en-US" dirty="0"/>
              <a:t>The (</a:t>
            </a:r>
            <a:r>
              <a:rPr lang="en-US" dirty="0" err="1"/>
              <a:t>Netlogo</a:t>
            </a:r>
            <a:r>
              <a:rPr lang="en-US" dirty="0"/>
              <a:t>) code</a:t>
            </a:r>
          </a:p>
          <a:p>
            <a:endParaRPr lang="en-US" dirty="0"/>
          </a:p>
        </p:txBody>
      </p:sp>
    </p:spTree>
    <p:extLst>
      <p:ext uri="{BB962C8B-B14F-4D97-AF65-F5344CB8AC3E}">
        <p14:creationId xmlns:p14="http://schemas.microsoft.com/office/powerpoint/2010/main" val="2311644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6610-CF27-E9A3-A6EF-6365383B66F7}"/>
              </a:ext>
            </a:extLst>
          </p:cNvPr>
          <p:cNvSpPr>
            <a:spLocks noGrp="1"/>
          </p:cNvSpPr>
          <p:nvPr>
            <p:ph type="title"/>
          </p:nvPr>
        </p:nvSpPr>
        <p:spPr/>
        <p:txBody>
          <a:bodyPr/>
          <a:lstStyle/>
          <a:p>
            <a:r>
              <a:rPr lang="en-US"/>
              <a:t>Other examples and applications in:</a:t>
            </a:r>
            <a:endParaRPr lang="en-US" dirty="0"/>
          </a:p>
        </p:txBody>
      </p:sp>
      <p:pic>
        <p:nvPicPr>
          <p:cNvPr id="5" name="Content Placeholder 4" descr="A book cover of a red and white cover&#10;&#10;Description automatically generated with low confidence">
            <a:extLst>
              <a:ext uri="{FF2B5EF4-FFF2-40B4-BE49-F238E27FC236}">
                <a16:creationId xmlns:a16="http://schemas.microsoft.com/office/drawing/2014/main" id="{E167E9A9-5FDC-9182-829F-3F42A1642D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6675" y="1775482"/>
            <a:ext cx="2963917" cy="4497936"/>
          </a:xfrm>
        </p:spPr>
      </p:pic>
      <p:pic>
        <p:nvPicPr>
          <p:cNvPr id="7" name="Picture 6" descr="A picture containing text, screenshot, graphic design, font&#10;&#10;Description automatically generated">
            <a:extLst>
              <a:ext uri="{FF2B5EF4-FFF2-40B4-BE49-F238E27FC236}">
                <a16:creationId xmlns:a16="http://schemas.microsoft.com/office/drawing/2014/main" id="{AB42B398-9F0F-EC6F-B59E-9F18892818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933" y="1775482"/>
            <a:ext cx="2835900" cy="4485317"/>
          </a:xfrm>
          <a:prstGeom prst="rect">
            <a:avLst/>
          </a:prstGeom>
        </p:spPr>
      </p:pic>
      <p:pic>
        <p:nvPicPr>
          <p:cNvPr id="9" name="Picture 8" descr="A picture containing text, screenshot, graphic design, font&#10;&#10;Description automatically generated">
            <a:extLst>
              <a:ext uri="{FF2B5EF4-FFF2-40B4-BE49-F238E27FC236}">
                <a16:creationId xmlns:a16="http://schemas.microsoft.com/office/drawing/2014/main" id="{C8B321C2-13B7-8874-2425-B888406F8F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3434" y="1775482"/>
            <a:ext cx="2894781" cy="4497937"/>
          </a:xfrm>
          <a:prstGeom prst="rect">
            <a:avLst/>
          </a:prstGeom>
        </p:spPr>
      </p:pic>
      <p:pic>
        <p:nvPicPr>
          <p:cNvPr id="11" name="Picture 10">
            <a:extLst>
              <a:ext uri="{FF2B5EF4-FFF2-40B4-BE49-F238E27FC236}">
                <a16:creationId xmlns:a16="http://schemas.microsoft.com/office/drawing/2014/main" id="{0D737683-CCD1-5817-D41A-A0F15800C409}"/>
              </a:ext>
            </a:extLst>
          </p:cNvPr>
          <p:cNvPicPr>
            <a:picLocks noChangeAspect="1"/>
          </p:cNvPicPr>
          <p:nvPr/>
        </p:nvPicPr>
        <p:blipFill rotWithShape="1">
          <a:blip r:embed="rId5"/>
          <a:srcRect t="14100" r="81897" b="71341"/>
          <a:stretch/>
        </p:blipFill>
        <p:spPr>
          <a:xfrm>
            <a:off x="9452555" y="1894655"/>
            <a:ext cx="2207172" cy="998482"/>
          </a:xfrm>
          <a:prstGeom prst="rect">
            <a:avLst/>
          </a:prstGeom>
        </p:spPr>
      </p:pic>
      <p:pic>
        <p:nvPicPr>
          <p:cNvPr id="13" name="Picture 12">
            <a:extLst>
              <a:ext uri="{FF2B5EF4-FFF2-40B4-BE49-F238E27FC236}">
                <a16:creationId xmlns:a16="http://schemas.microsoft.com/office/drawing/2014/main" id="{898E5160-2C0D-A51B-9640-A7AAB09D8BFA}"/>
              </a:ext>
            </a:extLst>
          </p:cNvPr>
          <p:cNvPicPr>
            <a:picLocks noChangeAspect="1"/>
          </p:cNvPicPr>
          <p:nvPr/>
        </p:nvPicPr>
        <p:blipFill rotWithShape="1">
          <a:blip r:embed="rId6"/>
          <a:srcRect t="15019" r="75445" b="70421"/>
          <a:stretch/>
        </p:blipFill>
        <p:spPr>
          <a:xfrm>
            <a:off x="9198215" y="2893137"/>
            <a:ext cx="2715852" cy="905786"/>
          </a:xfrm>
          <a:prstGeom prst="rect">
            <a:avLst/>
          </a:prstGeom>
        </p:spPr>
      </p:pic>
    </p:spTree>
    <p:extLst>
      <p:ext uri="{BB962C8B-B14F-4D97-AF65-F5344CB8AC3E}">
        <p14:creationId xmlns:p14="http://schemas.microsoft.com/office/powerpoint/2010/main" val="373309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3C1F4C-0BD4-4F0C-8728-F413DF73D3DF}"/>
              </a:ext>
            </a:extLst>
          </p:cNvPr>
          <p:cNvSpPr>
            <a:spLocks noGrp="1"/>
          </p:cNvSpPr>
          <p:nvPr>
            <p:ph type="title"/>
          </p:nvPr>
        </p:nvSpPr>
        <p:spPr>
          <a:xfrm>
            <a:off x="865632" y="354655"/>
            <a:ext cx="11576729" cy="1065358"/>
          </a:xfrm>
        </p:spPr>
        <p:txBody>
          <a:bodyPr>
            <a:noAutofit/>
          </a:bodyPr>
          <a:lstStyle/>
          <a:p>
            <a:r>
              <a:rPr lang="en-US" sz="3200" dirty="0"/>
              <a:t>ABM example in  </a:t>
            </a:r>
            <a:br>
              <a:rPr lang="en-US" sz="3200" dirty="0"/>
            </a:br>
            <a:r>
              <a:rPr lang="en-GB" sz="3200" dirty="0"/>
              <a:t>(Simple) Decision-making model of migration in – three stages</a:t>
            </a:r>
          </a:p>
        </p:txBody>
      </p:sp>
      <p:sp>
        <p:nvSpPr>
          <p:cNvPr id="31" name="Freeform: Shape 30">
            <a:extLst>
              <a:ext uri="{FF2B5EF4-FFF2-40B4-BE49-F238E27FC236}">
                <a16:creationId xmlns:a16="http://schemas.microsoft.com/office/drawing/2014/main" id="{D0A37968-D912-47D9-BEE8-A758C5FD2E80}"/>
              </a:ext>
            </a:extLst>
          </p:cNvPr>
          <p:cNvSpPr/>
          <p:nvPr/>
        </p:nvSpPr>
        <p:spPr>
          <a:xfrm>
            <a:off x="8794798" y="5819828"/>
            <a:ext cx="5538477" cy="765878"/>
          </a:xfrm>
          <a:custGeom>
            <a:avLst/>
            <a:gdLst>
              <a:gd name="connsiteX0" fmla="*/ 0 w 1004887"/>
              <a:gd name="connsiteY0" fmla="*/ 0 h 669924"/>
              <a:gd name="connsiteX1" fmla="*/ 1004887 w 1004887"/>
              <a:gd name="connsiteY1" fmla="*/ 0 h 669924"/>
              <a:gd name="connsiteX2" fmla="*/ 1004887 w 1004887"/>
              <a:gd name="connsiteY2" fmla="*/ 669924 h 669924"/>
              <a:gd name="connsiteX3" fmla="*/ 0 w 1004887"/>
              <a:gd name="connsiteY3" fmla="*/ 669924 h 669924"/>
              <a:gd name="connsiteX4" fmla="*/ 0 w 1004887"/>
              <a:gd name="connsiteY4" fmla="*/ 0 h 669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887" h="669924">
                <a:moveTo>
                  <a:pt x="0" y="0"/>
                </a:moveTo>
                <a:lnTo>
                  <a:pt x="1004887" y="0"/>
                </a:lnTo>
                <a:lnTo>
                  <a:pt x="1004887" y="669924"/>
                </a:lnTo>
                <a:lnTo>
                  <a:pt x="0" y="669924"/>
                </a:lnTo>
                <a:lnTo>
                  <a:pt x="0" y="0"/>
                </a:lnTo>
                <a:close/>
              </a:path>
            </a:pathLst>
          </a:custGeom>
          <a:no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lvl="0" defTabSz="355600">
              <a:lnSpc>
                <a:spcPct val="90000"/>
              </a:lnSpc>
              <a:spcBef>
                <a:spcPct val="0"/>
              </a:spcBef>
              <a:spcAft>
                <a:spcPct val="35000"/>
              </a:spcAft>
            </a:pPr>
            <a:endParaRPr lang="en-GB" sz="1100" kern="1200" dirty="0">
              <a:solidFill>
                <a:schemeClr val="accent6">
                  <a:lumMod val="50000"/>
                </a:schemeClr>
              </a:solidFill>
            </a:endParaRPr>
          </a:p>
        </p:txBody>
      </p:sp>
      <p:grpSp>
        <p:nvGrpSpPr>
          <p:cNvPr id="17" name="Group 16">
            <a:extLst>
              <a:ext uri="{FF2B5EF4-FFF2-40B4-BE49-F238E27FC236}">
                <a16:creationId xmlns:a16="http://schemas.microsoft.com/office/drawing/2014/main" id="{8F12C2A0-19EF-9318-EBA3-AF02784ABAC3}"/>
              </a:ext>
            </a:extLst>
          </p:cNvPr>
          <p:cNvGrpSpPr/>
          <p:nvPr/>
        </p:nvGrpSpPr>
        <p:grpSpPr>
          <a:xfrm>
            <a:off x="655143" y="4657759"/>
            <a:ext cx="10933489" cy="2026246"/>
            <a:chOff x="439535" y="1473385"/>
            <a:chExt cx="10933489" cy="2026246"/>
          </a:xfrm>
        </p:grpSpPr>
        <p:grpSp>
          <p:nvGrpSpPr>
            <p:cNvPr id="3" name="Group 2">
              <a:extLst>
                <a:ext uri="{FF2B5EF4-FFF2-40B4-BE49-F238E27FC236}">
                  <a16:creationId xmlns:a16="http://schemas.microsoft.com/office/drawing/2014/main" id="{DB254CA8-4A8E-ED46-EA19-D5241AFEA612}"/>
                </a:ext>
              </a:extLst>
            </p:cNvPr>
            <p:cNvGrpSpPr/>
            <p:nvPr/>
          </p:nvGrpSpPr>
          <p:grpSpPr>
            <a:xfrm>
              <a:off x="439535" y="1473385"/>
              <a:ext cx="10933489" cy="1752098"/>
              <a:chOff x="479671" y="2459605"/>
              <a:chExt cx="10933489" cy="1752098"/>
            </a:xfrm>
          </p:grpSpPr>
          <p:sp>
            <p:nvSpPr>
              <p:cNvPr id="10" name="Freeform: Shape 9">
                <a:extLst>
                  <a:ext uri="{FF2B5EF4-FFF2-40B4-BE49-F238E27FC236}">
                    <a16:creationId xmlns:a16="http://schemas.microsoft.com/office/drawing/2014/main" id="{6A38D1EE-57DE-45C9-B83B-6A4B15314220}"/>
                  </a:ext>
                </a:extLst>
              </p:cNvPr>
              <p:cNvSpPr/>
              <p:nvPr/>
            </p:nvSpPr>
            <p:spPr>
              <a:xfrm>
                <a:off x="479671" y="2548232"/>
                <a:ext cx="1414617" cy="1663471"/>
              </a:xfrm>
              <a:custGeom>
                <a:avLst/>
                <a:gdLst>
                  <a:gd name="connsiteX0" fmla="*/ 0 w 1004887"/>
                  <a:gd name="connsiteY0" fmla="*/ 0 h 669924"/>
                  <a:gd name="connsiteX1" fmla="*/ 1004887 w 1004887"/>
                  <a:gd name="connsiteY1" fmla="*/ 0 h 669924"/>
                  <a:gd name="connsiteX2" fmla="*/ 1004887 w 1004887"/>
                  <a:gd name="connsiteY2" fmla="*/ 669924 h 669924"/>
                  <a:gd name="connsiteX3" fmla="*/ 0 w 1004887"/>
                  <a:gd name="connsiteY3" fmla="*/ 669924 h 669924"/>
                  <a:gd name="connsiteX4" fmla="*/ 0 w 1004887"/>
                  <a:gd name="connsiteY4" fmla="*/ 0 h 669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887" h="669924">
                    <a:moveTo>
                      <a:pt x="0" y="0"/>
                    </a:moveTo>
                    <a:lnTo>
                      <a:pt x="1004887" y="0"/>
                    </a:lnTo>
                    <a:lnTo>
                      <a:pt x="1004887" y="669924"/>
                    </a:lnTo>
                    <a:lnTo>
                      <a:pt x="0" y="669924"/>
                    </a:lnTo>
                    <a:lnTo>
                      <a:pt x="0" y="0"/>
                    </a:lnTo>
                    <a:close/>
                  </a:path>
                </a:pathLst>
              </a:custGeom>
              <a:solidFill>
                <a:schemeClr val="accent6">
                  <a:lumMod val="40000"/>
                  <a:lumOff val="6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1200" b="1" kern="1200" dirty="0"/>
                  <a:t>Stage 1: </a:t>
                </a:r>
              </a:p>
              <a:p>
                <a:pPr marL="0" lvl="0" indent="0" algn="ctr" defTabSz="355600">
                  <a:lnSpc>
                    <a:spcPct val="90000"/>
                  </a:lnSpc>
                  <a:spcBef>
                    <a:spcPct val="0"/>
                  </a:spcBef>
                  <a:spcAft>
                    <a:spcPct val="35000"/>
                  </a:spcAft>
                  <a:buNone/>
                </a:pPr>
                <a:r>
                  <a:rPr lang="en-GB" sz="1200" b="1" kern="1200" dirty="0"/>
                  <a:t>Potential to migrate</a:t>
                </a:r>
              </a:p>
            </p:txBody>
          </p:sp>
          <p:sp>
            <p:nvSpPr>
              <p:cNvPr id="76" name="Freeform: Shape 75">
                <a:extLst>
                  <a:ext uri="{FF2B5EF4-FFF2-40B4-BE49-F238E27FC236}">
                    <a16:creationId xmlns:a16="http://schemas.microsoft.com/office/drawing/2014/main" id="{BE0B6B4A-0698-4212-AD6A-24E1EE5AA55F}"/>
                  </a:ext>
                </a:extLst>
              </p:cNvPr>
              <p:cNvSpPr/>
              <p:nvPr/>
            </p:nvSpPr>
            <p:spPr>
              <a:xfrm>
                <a:off x="5611895" y="2459606"/>
                <a:ext cx="1414617" cy="1663471"/>
              </a:xfrm>
              <a:custGeom>
                <a:avLst/>
                <a:gdLst>
                  <a:gd name="connsiteX0" fmla="*/ 0 w 1004887"/>
                  <a:gd name="connsiteY0" fmla="*/ 0 h 669924"/>
                  <a:gd name="connsiteX1" fmla="*/ 1004887 w 1004887"/>
                  <a:gd name="connsiteY1" fmla="*/ 0 h 669924"/>
                  <a:gd name="connsiteX2" fmla="*/ 1004887 w 1004887"/>
                  <a:gd name="connsiteY2" fmla="*/ 669924 h 669924"/>
                  <a:gd name="connsiteX3" fmla="*/ 0 w 1004887"/>
                  <a:gd name="connsiteY3" fmla="*/ 669924 h 669924"/>
                  <a:gd name="connsiteX4" fmla="*/ 0 w 1004887"/>
                  <a:gd name="connsiteY4" fmla="*/ 0 h 669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887" h="669924">
                    <a:moveTo>
                      <a:pt x="0" y="0"/>
                    </a:moveTo>
                    <a:lnTo>
                      <a:pt x="1004887" y="0"/>
                    </a:lnTo>
                    <a:lnTo>
                      <a:pt x="1004887" y="669924"/>
                    </a:lnTo>
                    <a:lnTo>
                      <a:pt x="0" y="669924"/>
                    </a:lnTo>
                    <a:lnTo>
                      <a:pt x="0" y="0"/>
                    </a:lnTo>
                    <a:close/>
                  </a:path>
                </a:pathLst>
              </a:custGeom>
              <a:solidFill>
                <a:schemeClr val="accent6">
                  <a:lumMod val="40000"/>
                  <a:lumOff val="6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1200" b="1" kern="1200" dirty="0"/>
                  <a:t>Stage 2: </a:t>
                </a:r>
              </a:p>
              <a:p>
                <a:pPr marL="0" lvl="0" indent="0" algn="ctr" defTabSz="355600">
                  <a:lnSpc>
                    <a:spcPct val="90000"/>
                  </a:lnSpc>
                  <a:spcBef>
                    <a:spcPct val="0"/>
                  </a:spcBef>
                  <a:spcAft>
                    <a:spcPct val="35000"/>
                  </a:spcAft>
                  <a:buNone/>
                </a:pPr>
                <a:r>
                  <a:rPr lang="en-GB" sz="1200" b="1" kern="1200" dirty="0"/>
                  <a:t>intention to migrate</a:t>
                </a:r>
              </a:p>
            </p:txBody>
          </p:sp>
          <p:sp>
            <p:nvSpPr>
              <p:cNvPr id="77" name="Freeform: Shape 76">
                <a:extLst>
                  <a:ext uri="{FF2B5EF4-FFF2-40B4-BE49-F238E27FC236}">
                    <a16:creationId xmlns:a16="http://schemas.microsoft.com/office/drawing/2014/main" id="{6107FA58-71F9-4EE5-84E5-A3F1E547579D}"/>
                  </a:ext>
                </a:extLst>
              </p:cNvPr>
              <p:cNvSpPr/>
              <p:nvPr/>
            </p:nvSpPr>
            <p:spPr>
              <a:xfrm>
                <a:off x="9998543" y="2459605"/>
                <a:ext cx="1414617" cy="1663471"/>
              </a:xfrm>
              <a:custGeom>
                <a:avLst/>
                <a:gdLst>
                  <a:gd name="connsiteX0" fmla="*/ 0 w 1004887"/>
                  <a:gd name="connsiteY0" fmla="*/ 0 h 669924"/>
                  <a:gd name="connsiteX1" fmla="*/ 1004887 w 1004887"/>
                  <a:gd name="connsiteY1" fmla="*/ 0 h 669924"/>
                  <a:gd name="connsiteX2" fmla="*/ 1004887 w 1004887"/>
                  <a:gd name="connsiteY2" fmla="*/ 669924 h 669924"/>
                  <a:gd name="connsiteX3" fmla="*/ 0 w 1004887"/>
                  <a:gd name="connsiteY3" fmla="*/ 669924 h 669924"/>
                  <a:gd name="connsiteX4" fmla="*/ 0 w 1004887"/>
                  <a:gd name="connsiteY4" fmla="*/ 0 h 669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887" h="669924">
                    <a:moveTo>
                      <a:pt x="0" y="0"/>
                    </a:moveTo>
                    <a:lnTo>
                      <a:pt x="1004887" y="0"/>
                    </a:lnTo>
                    <a:lnTo>
                      <a:pt x="1004887" y="669924"/>
                    </a:lnTo>
                    <a:lnTo>
                      <a:pt x="0" y="669924"/>
                    </a:lnTo>
                    <a:lnTo>
                      <a:pt x="0" y="0"/>
                    </a:lnTo>
                    <a:close/>
                  </a:path>
                </a:pathLst>
              </a:custGeom>
              <a:solidFill>
                <a:schemeClr val="accent6">
                  <a:lumMod val="40000"/>
                  <a:lumOff val="6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1200" b="1" kern="1200" dirty="0"/>
                  <a:t>Stage 3: </a:t>
                </a:r>
              </a:p>
              <a:p>
                <a:pPr marL="0" lvl="0" indent="0" algn="ctr" defTabSz="355600">
                  <a:lnSpc>
                    <a:spcPct val="90000"/>
                  </a:lnSpc>
                  <a:spcBef>
                    <a:spcPct val="0"/>
                  </a:spcBef>
                  <a:spcAft>
                    <a:spcPct val="35000"/>
                  </a:spcAft>
                  <a:buNone/>
                </a:pPr>
                <a:r>
                  <a:rPr lang="en-GB" sz="1200" b="1" kern="1200" dirty="0"/>
                  <a:t>Migrate</a:t>
                </a:r>
              </a:p>
            </p:txBody>
          </p:sp>
          <p:cxnSp>
            <p:nvCxnSpPr>
              <p:cNvPr id="100" name="Straight Arrow Connector 99">
                <a:extLst>
                  <a:ext uri="{FF2B5EF4-FFF2-40B4-BE49-F238E27FC236}">
                    <a16:creationId xmlns:a16="http://schemas.microsoft.com/office/drawing/2014/main" id="{1818645B-5AFF-4DA1-B096-96DE5E2F28BA}"/>
                  </a:ext>
                </a:extLst>
              </p:cNvPr>
              <p:cNvCxnSpPr>
                <a:cxnSpLocks/>
              </p:cNvCxnSpPr>
              <p:nvPr/>
            </p:nvCxnSpPr>
            <p:spPr>
              <a:xfrm flipV="1">
                <a:off x="2377113" y="3121559"/>
                <a:ext cx="2929193" cy="11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62C61D6A-032D-4D3D-950E-A8BC9E1152F1}"/>
                  </a:ext>
                </a:extLst>
              </p:cNvPr>
              <p:cNvCxnSpPr>
                <a:cxnSpLocks/>
              </p:cNvCxnSpPr>
              <p:nvPr/>
            </p:nvCxnSpPr>
            <p:spPr>
              <a:xfrm>
                <a:off x="2377113" y="3541656"/>
                <a:ext cx="292919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115">
                <a:extLst>
                  <a:ext uri="{FF2B5EF4-FFF2-40B4-BE49-F238E27FC236}">
                    <a16:creationId xmlns:a16="http://schemas.microsoft.com/office/drawing/2014/main" id="{28FF75F8-4239-4A81-ABA0-63CC85AA71E9}"/>
                  </a:ext>
                </a:extLst>
              </p:cNvPr>
              <p:cNvSpPr/>
              <p:nvPr/>
            </p:nvSpPr>
            <p:spPr>
              <a:xfrm>
                <a:off x="2966658" y="3616726"/>
                <a:ext cx="1572866" cy="244682"/>
              </a:xfrm>
              <a:prstGeom prst="rect">
                <a:avLst/>
              </a:prstGeom>
            </p:spPr>
            <p:txBody>
              <a:bodyPr wrap="none">
                <a:spAutoFit/>
              </a:bodyPr>
              <a:lstStyle/>
              <a:p>
                <a:pPr lvl="0" algn="ctr" defTabSz="355600">
                  <a:lnSpc>
                    <a:spcPct val="90000"/>
                  </a:lnSpc>
                  <a:spcBef>
                    <a:spcPct val="0"/>
                  </a:spcBef>
                  <a:spcAft>
                    <a:spcPct val="35000"/>
                  </a:spcAft>
                </a:pPr>
                <a:r>
                  <a:rPr lang="en-GB" sz="1100" dirty="0">
                    <a:solidFill>
                      <a:schemeClr val="accent5"/>
                    </a:solidFill>
                  </a:rPr>
                  <a:t>Contact with migrant(s)</a:t>
                </a:r>
              </a:p>
            </p:txBody>
          </p:sp>
          <p:sp>
            <p:nvSpPr>
              <p:cNvPr id="118" name="Rectangle 117">
                <a:extLst>
                  <a:ext uri="{FF2B5EF4-FFF2-40B4-BE49-F238E27FC236}">
                    <a16:creationId xmlns:a16="http://schemas.microsoft.com/office/drawing/2014/main" id="{1B10D7C8-D15C-449D-A8C8-CFEF8DCBCF57}"/>
                  </a:ext>
                </a:extLst>
              </p:cNvPr>
              <p:cNvSpPr/>
              <p:nvPr/>
            </p:nvSpPr>
            <p:spPr>
              <a:xfrm>
                <a:off x="2265089" y="2778976"/>
                <a:ext cx="3041217" cy="244682"/>
              </a:xfrm>
              <a:prstGeom prst="rect">
                <a:avLst/>
              </a:prstGeom>
            </p:spPr>
            <p:txBody>
              <a:bodyPr wrap="none">
                <a:spAutoFit/>
              </a:bodyPr>
              <a:lstStyle/>
              <a:p>
                <a:pPr lvl="0" algn="ctr" defTabSz="355600">
                  <a:lnSpc>
                    <a:spcPct val="90000"/>
                  </a:lnSpc>
                  <a:spcBef>
                    <a:spcPct val="0"/>
                  </a:spcBef>
                  <a:spcAft>
                    <a:spcPct val="35000"/>
                  </a:spcAft>
                </a:pPr>
                <a:r>
                  <a:rPr lang="en-GB" sz="1100" dirty="0">
                    <a:solidFill>
                      <a:schemeClr val="accent6"/>
                    </a:solidFill>
                  </a:rPr>
                  <a:t>Perceived potential income gains* from migration</a:t>
                </a:r>
              </a:p>
            </p:txBody>
          </p:sp>
          <p:cxnSp>
            <p:nvCxnSpPr>
              <p:cNvPr id="119" name="Straight Arrow Connector 118">
                <a:extLst>
                  <a:ext uri="{FF2B5EF4-FFF2-40B4-BE49-F238E27FC236}">
                    <a16:creationId xmlns:a16="http://schemas.microsoft.com/office/drawing/2014/main" id="{F0A8AAB7-C6D8-4D07-8CD0-266370CD82D1}"/>
                  </a:ext>
                </a:extLst>
              </p:cNvPr>
              <p:cNvCxnSpPr>
                <a:cxnSpLocks/>
              </p:cNvCxnSpPr>
              <p:nvPr/>
            </p:nvCxnSpPr>
            <p:spPr>
              <a:xfrm>
                <a:off x="7509337" y="3046337"/>
                <a:ext cx="2124300" cy="4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BEB1CBF-4D39-4D29-A65E-1C0216C09E4D}"/>
                  </a:ext>
                </a:extLst>
              </p:cNvPr>
              <p:cNvCxnSpPr>
                <a:cxnSpLocks/>
              </p:cNvCxnSpPr>
              <p:nvPr/>
            </p:nvCxnSpPr>
            <p:spPr>
              <a:xfrm flipV="1">
                <a:off x="7439487" y="3441463"/>
                <a:ext cx="2194150" cy="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72AFCA5E-8836-42E5-A883-D6212256A57B}"/>
                  </a:ext>
                </a:extLst>
              </p:cNvPr>
              <p:cNvSpPr/>
              <p:nvPr/>
            </p:nvSpPr>
            <p:spPr>
              <a:xfrm>
                <a:off x="7805090" y="3520790"/>
                <a:ext cx="1532792" cy="244682"/>
              </a:xfrm>
              <a:prstGeom prst="rect">
                <a:avLst/>
              </a:prstGeom>
            </p:spPr>
            <p:txBody>
              <a:bodyPr wrap="none">
                <a:spAutoFit/>
              </a:bodyPr>
              <a:lstStyle/>
              <a:p>
                <a:pPr lvl="0" algn="ctr" defTabSz="355600">
                  <a:lnSpc>
                    <a:spcPct val="90000"/>
                  </a:lnSpc>
                  <a:spcBef>
                    <a:spcPct val="0"/>
                  </a:spcBef>
                  <a:spcAft>
                    <a:spcPct val="35000"/>
                  </a:spcAft>
                </a:pPr>
                <a:r>
                  <a:rPr lang="en-GB" sz="1100" dirty="0">
                    <a:solidFill>
                      <a:schemeClr val="accent5"/>
                    </a:solidFill>
                  </a:rPr>
                  <a:t>Contact with migrant(s)</a:t>
                </a:r>
              </a:p>
            </p:txBody>
          </p:sp>
          <p:sp>
            <p:nvSpPr>
              <p:cNvPr id="122" name="Rectangle 121">
                <a:extLst>
                  <a:ext uri="{FF2B5EF4-FFF2-40B4-BE49-F238E27FC236}">
                    <a16:creationId xmlns:a16="http://schemas.microsoft.com/office/drawing/2014/main" id="{D8FF5668-C571-4CDA-A96E-CCC0B97C7D54}"/>
                  </a:ext>
                </a:extLst>
              </p:cNvPr>
              <p:cNvSpPr/>
              <p:nvPr/>
            </p:nvSpPr>
            <p:spPr>
              <a:xfrm>
                <a:off x="7655550" y="2764044"/>
                <a:ext cx="1762022" cy="244682"/>
              </a:xfrm>
              <a:prstGeom prst="rect">
                <a:avLst/>
              </a:prstGeom>
            </p:spPr>
            <p:txBody>
              <a:bodyPr wrap="none">
                <a:spAutoFit/>
              </a:bodyPr>
              <a:lstStyle/>
              <a:p>
                <a:pPr lvl="0" algn="ctr" defTabSz="355600">
                  <a:lnSpc>
                    <a:spcPct val="90000"/>
                  </a:lnSpc>
                  <a:spcBef>
                    <a:spcPct val="0"/>
                  </a:spcBef>
                  <a:spcAft>
                    <a:spcPct val="35000"/>
                  </a:spcAft>
                </a:pPr>
                <a:r>
                  <a:rPr lang="en-GB" sz="1100" dirty="0">
                    <a:solidFill>
                      <a:schemeClr val="accent6"/>
                    </a:solidFill>
                  </a:rPr>
                  <a:t>Financial ability</a:t>
                </a:r>
                <a:r>
                  <a:rPr lang="en-GB" sz="1100" baseline="30000" dirty="0">
                    <a:solidFill>
                      <a:schemeClr val="accent6"/>
                    </a:solidFill>
                    <a:latin typeface="Calibri" panose="020F0502020204030204" pitchFamily="34" charset="0"/>
                    <a:cs typeface="Calibri" panose="020F0502020204030204" pitchFamily="34" charset="0"/>
                  </a:rPr>
                  <a:t> +</a:t>
                </a:r>
                <a:r>
                  <a:rPr lang="en-GB" sz="1100" dirty="0">
                    <a:solidFill>
                      <a:schemeClr val="accent6"/>
                    </a:solidFill>
                  </a:rPr>
                  <a:t> to migrate</a:t>
                </a:r>
              </a:p>
            </p:txBody>
          </p:sp>
          <p:sp>
            <p:nvSpPr>
              <p:cNvPr id="124" name="Rectangle 123">
                <a:extLst>
                  <a:ext uri="{FF2B5EF4-FFF2-40B4-BE49-F238E27FC236}">
                    <a16:creationId xmlns:a16="http://schemas.microsoft.com/office/drawing/2014/main" id="{55B7878F-C8AB-40C4-A821-8C5050887CE3}"/>
                  </a:ext>
                </a:extLst>
              </p:cNvPr>
              <p:cNvSpPr/>
              <p:nvPr/>
            </p:nvSpPr>
            <p:spPr>
              <a:xfrm>
                <a:off x="3589895" y="3214861"/>
                <a:ext cx="354585" cy="244682"/>
              </a:xfrm>
              <a:prstGeom prst="rect">
                <a:avLst/>
              </a:prstGeom>
            </p:spPr>
            <p:txBody>
              <a:bodyPr wrap="none">
                <a:spAutoFit/>
              </a:bodyPr>
              <a:lstStyle/>
              <a:p>
                <a:pPr lvl="0" algn="ctr" defTabSz="355600">
                  <a:lnSpc>
                    <a:spcPct val="90000"/>
                  </a:lnSpc>
                  <a:spcBef>
                    <a:spcPct val="0"/>
                  </a:spcBef>
                  <a:spcAft>
                    <a:spcPct val="35000"/>
                  </a:spcAft>
                </a:pPr>
                <a:r>
                  <a:rPr lang="en-GB" sz="1100" dirty="0"/>
                  <a:t>OR</a:t>
                </a:r>
              </a:p>
            </p:txBody>
          </p:sp>
          <p:sp>
            <p:nvSpPr>
              <p:cNvPr id="125" name="Rectangle 124">
                <a:extLst>
                  <a:ext uri="{FF2B5EF4-FFF2-40B4-BE49-F238E27FC236}">
                    <a16:creationId xmlns:a16="http://schemas.microsoft.com/office/drawing/2014/main" id="{57C109E9-252C-40E8-B5F5-4C24E277324D}"/>
                  </a:ext>
                </a:extLst>
              </p:cNvPr>
              <p:cNvSpPr/>
              <p:nvPr/>
            </p:nvSpPr>
            <p:spPr>
              <a:xfrm>
                <a:off x="8335235" y="3121559"/>
                <a:ext cx="354585" cy="244682"/>
              </a:xfrm>
              <a:prstGeom prst="rect">
                <a:avLst/>
              </a:prstGeom>
            </p:spPr>
            <p:txBody>
              <a:bodyPr wrap="none">
                <a:spAutoFit/>
              </a:bodyPr>
              <a:lstStyle/>
              <a:p>
                <a:pPr lvl="0" algn="ctr" defTabSz="355600">
                  <a:lnSpc>
                    <a:spcPct val="90000"/>
                  </a:lnSpc>
                  <a:spcBef>
                    <a:spcPct val="0"/>
                  </a:spcBef>
                  <a:spcAft>
                    <a:spcPct val="35000"/>
                  </a:spcAft>
                </a:pPr>
                <a:r>
                  <a:rPr lang="en-GB" sz="1100" dirty="0"/>
                  <a:t>OR</a:t>
                </a:r>
              </a:p>
            </p:txBody>
          </p:sp>
        </p:grpSp>
        <p:sp>
          <p:nvSpPr>
            <p:cNvPr id="6" name="TextBox 5">
              <a:extLst>
                <a:ext uri="{FF2B5EF4-FFF2-40B4-BE49-F238E27FC236}">
                  <a16:creationId xmlns:a16="http://schemas.microsoft.com/office/drawing/2014/main" id="{4C085805-5972-018F-4D38-53FF8E3D3D1B}"/>
                </a:ext>
              </a:extLst>
            </p:cNvPr>
            <p:cNvSpPr txBox="1"/>
            <p:nvPr/>
          </p:nvSpPr>
          <p:spPr>
            <a:xfrm>
              <a:off x="2219058" y="2989315"/>
              <a:ext cx="3117023" cy="430887"/>
            </a:xfrm>
            <a:prstGeom prst="rect">
              <a:avLst/>
            </a:prstGeom>
            <a:noFill/>
          </p:spPr>
          <p:txBody>
            <a:bodyPr wrap="square">
              <a:spAutoFit/>
            </a:bodyPr>
            <a:lstStyle/>
            <a:p>
              <a:r>
                <a:rPr lang="en-GB" sz="1100" dirty="0">
                  <a:solidFill>
                    <a:schemeClr val="accent6"/>
                  </a:solidFill>
                </a:rPr>
                <a:t>*Perceived potential income gains relative to potential income loss</a:t>
              </a:r>
              <a:endParaRPr lang="en-US" sz="1100" dirty="0">
                <a:solidFill>
                  <a:schemeClr val="accent6"/>
                </a:solidFill>
              </a:endParaRPr>
            </a:p>
          </p:txBody>
        </p:sp>
        <p:sp>
          <p:nvSpPr>
            <p:cNvPr id="8" name="TextBox 7">
              <a:extLst>
                <a:ext uri="{FF2B5EF4-FFF2-40B4-BE49-F238E27FC236}">
                  <a16:creationId xmlns:a16="http://schemas.microsoft.com/office/drawing/2014/main" id="{3BF6787F-773B-66E1-1834-670FD637C1AB}"/>
                </a:ext>
              </a:extLst>
            </p:cNvPr>
            <p:cNvSpPr txBox="1"/>
            <p:nvPr/>
          </p:nvSpPr>
          <p:spPr>
            <a:xfrm>
              <a:off x="7194064" y="2950250"/>
              <a:ext cx="2594829" cy="549381"/>
            </a:xfrm>
            <a:prstGeom prst="rect">
              <a:avLst/>
            </a:prstGeom>
            <a:noFill/>
          </p:spPr>
          <p:txBody>
            <a:bodyPr wrap="square">
              <a:spAutoFit/>
            </a:bodyPr>
            <a:lstStyle/>
            <a:p>
              <a:pPr lvl="0" defTabSz="355600">
                <a:lnSpc>
                  <a:spcPct val="90000"/>
                </a:lnSpc>
                <a:spcBef>
                  <a:spcPct val="0"/>
                </a:spcBef>
                <a:spcAft>
                  <a:spcPct val="35000"/>
                </a:spcAft>
              </a:pPr>
              <a:r>
                <a:rPr lang="en-GB" sz="1100" dirty="0">
                  <a:solidFill>
                    <a:schemeClr val="accent6"/>
                  </a:solidFill>
                </a:rPr>
                <a:t>+ Ability to migrate represents the difference between available savings and costs of migration</a:t>
              </a:r>
            </a:p>
          </p:txBody>
        </p:sp>
      </p:grpSp>
      <p:sp>
        <p:nvSpPr>
          <p:cNvPr id="14" name="Content Placeholder 2">
            <a:extLst>
              <a:ext uri="{FF2B5EF4-FFF2-40B4-BE49-F238E27FC236}">
                <a16:creationId xmlns:a16="http://schemas.microsoft.com/office/drawing/2014/main" id="{6646921B-74AC-30C9-2443-E4F76D795B17}"/>
              </a:ext>
            </a:extLst>
          </p:cNvPr>
          <p:cNvSpPr txBox="1">
            <a:spLocks/>
          </p:cNvSpPr>
          <p:nvPr/>
        </p:nvSpPr>
        <p:spPr>
          <a:xfrm>
            <a:off x="237946" y="3911989"/>
            <a:ext cx="10725229" cy="276799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3200" dirty="0"/>
          </a:p>
        </p:txBody>
      </p:sp>
      <p:grpSp>
        <p:nvGrpSpPr>
          <p:cNvPr id="7" name="Group 6">
            <a:extLst>
              <a:ext uri="{FF2B5EF4-FFF2-40B4-BE49-F238E27FC236}">
                <a16:creationId xmlns:a16="http://schemas.microsoft.com/office/drawing/2014/main" id="{C311C51E-11E1-7E54-B059-559D415D89E8}"/>
              </a:ext>
            </a:extLst>
          </p:cNvPr>
          <p:cNvGrpSpPr/>
          <p:nvPr/>
        </p:nvGrpSpPr>
        <p:grpSpPr>
          <a:xfrm>
            <a:off x="6968801" y="1557993"/>
            <a:ext cx="4224113" cy="2994088"/>
            <a:chOff x="814465" y="3886715"/>
            <a:chExt cx="4224113" cy="2994088"/>
          </a:xfrm>
        </p:grpSpPr>
        <p:pic>
          <p:nvPicPr>
            <p:cNvPr id="15" name="Picture 14">
              <a:extLst>
                <a:ext uri="{FF2B5EF4-FFF2-40B4-BE49-F238E27FC236}">
                  <a16:creationId xmlns:a16="http://schemas.microsoft.com/office/drawing/2014/main" id="{7BC2A72B-ECBB-4639-771B-EBDD400655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465" y="3886715"/>
              <a:ext cx="4224113" cy="2816075"/>
            </a:xfrm>
            <a:prstGeom prst="rect">
              <a:avLst/>
            </a:prstGeom>
          </p:spPr>
        </p:pic>
        <p:sp>
          <p:nvSpPr>
            <p:cNvPr id="18" name="TextBox 17">
              <a:extLst>
                <a:ext uri="{FF2B5EF4-FFF2-40B4-BE49-F238E27FC236}">
                  <a16:creationId xmlns:a16="http://schemas.microsoft.com/office/drawing/2014/main" id="{5DD05185-5715-4F4B-8803-BE7E3247D898}"/>
                </a:ext>
              </a:extLst>
            </p:cNvPr>
            <p:cNvSpPr txBox="1"/>
            <p:nvPr/>
          </p:nvSpPr>
          <p:spPr>
            <a:xfrm>
              <a:off x="2513231" y="6620062"/>
              <a:ext cx="547603" cy="260741"/>
            </a:xfrm>
            <a:prstGeom prst="rect">
              <a:avLst/>
            </a:prstGeom>
            <a:noFill/>
          </p:spPr>
          <p:txBody>
            <a:bodyPr wrap="square" rtlCol="0">
              <a:spAutoFit/>
            </a:bodyPr>
            <a:lstStyle/>
            <a:p>
              <a:r>
                <a:rPr lang="en-GB" sz="1100" dirty="0"/>
                <a:t>years</a:t>
              </a:r>
              <a:endParaRPr lang="en-GB" dirty="0"/>
            </a:p>
          </p:txBody>
        </p:sp>
      </p:grpSp>
      <p:pic>
        <p:nvPicPr>
          <p:cNvPr id="5" name="Picture 4" descr="A picture containing graphics, font, logo, graphic design&#10;&#10;Description automatically generated">
            <a:extLst>
              <a:ext uri="{FF2B5EF4-FFF2-40B4-BE49-F238E27FC236}">
                <a16:creationId xmlns:a16="http://schemas.microsoft.com/office/drawing/2014/main" id="{447E10CD-C923-2E58-E5A8-5E054B9F8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1685" y="262871"/>
            <a:ext cx="1061628" cy="682475"/>
          </a:xfrm>
          <a:prstGeom prst="rect">
            <a:avLst/>
          </a:prstGeom>
        </p:spPr>
      </p:pic>
      <p:sp>
        <p:nvSpPr>
          <p:cNvPr id="11" name="TextBox 10">
            <a:extLst>
              <a:ext uri="{FF2B5EF4-FFF2-40B4-BE49-F238E27FC236}">
                <a16:creationId xmlns:a16="http://schemas.microsoft.com/office/drawing/2014/main" id="{BBB04B4E-F7D1-D0A6-1E76-C1AF40CE4D30}"/>
              </a:ext>
            </a:extLst>
          </p:cNvPr>
          <p:cNvSpPr txBox="1"/>
          <p:nvPr/>
        </p:nvSpPr>
        <p:spPr>
          <a:xfrm>
            <a:off x="1334687" y="2216195"/>
            <a:ext cx="5960685" cy="1754326"/>
          </a:xfrm>
          <a:prstGeom prst="rect">
            <a:avLst/>
          </a:prstGeom>
          <a:noFill/>
        </p:spPr>
        <p:txBody>
          <a:bodyPr wrap="square">
            <a:spAutoFit/>
          </a:bodyPr>
          <a:lstStyle/>
          <a:p>
            <a:r>
              <a:rPr lang="en-GB" sz="1800" b="1" dirty="0"/>
              <a:t>Macro-pattern to be explained</a:t>
            </a:r>
            <a:r>
              <a:rPr lang="en-GB" sz="1800" dirty="0"/>
              <a:t>: </a:t>
            </a:r>
            <a:r>
              <a:rPr lang="en-GB" dirty="0"/>
              <a:t>s</a:t>
            </a:r>
            <a:r>
              <a:rPr lang="en-GB" sz="1800" dirty="0"/>
              <a:t>o-called pioneers and followers macro behaviour observed in international migration rates in communities of origin.</a:t>
            </a:r>
          </a:p>
          <a:p>
            <a:endParaRPr lang="en-GB" dirty="0"/>
          </a:p>
          <a:p>
            <a:r>
              <a:rPr lang="en-GB" b="1" dirty="0"/>
              <a:t>Mechanism</a:t>
            </a:r>
            <a:r>
              <a:rPr lang="en-GB" dirty="0"/>
              <a:t> of interest: network effects; intention and migration stages.</a:t>
            </a:r>
            <a:endParaRPr lang="en-GB" sz="1800" dirty="0"/>
          </a:p>
        </p:txBody>
      </p:sp>
    </p:spTree>
    <p:extLst>
      <p:ext uri="{BB962C8B-B14F-4D97-AF65-F5344CB8AC3E}">
        <p14:creationId xmlns:p14="http://schemas.microsoft.com/office/powerpoint/2010/main" val="346907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0990-B00B-01E7-5C74-E48B7D520D2D}"/>
              </a:ext>
            </a:extLst>
          </p:cNvPr>
          <p:cNvSpPr>
            <a:spLocks noGrp="1"/>
          </p:cNvSpPr>
          <p:nvPr>
            <p:ph type="title"/>
          </p:nvPr>
        </p:nvSpPr>
        <p:spPr>
          <a:xfrm>
            <a:off x="838200" y="528754"/>
            <a:ext cx="10515600" cy="1325563"/>
          </a:xfrm>
        </p:spPr>
        <p:txBody>
          <a:bodyPr/>
          <a:lstStyle/>
          <a:p>
            <a:r>
              <a:rPr lang="en-US" dirty="0"/>
              <a:t>Theoretical ABM: let’s have a look to the Julia code.</a:t>
            </a:r>
          </a:p>
        </p:txBody>
      </p:sp>
      <p:sp>
        <p:nvSpPr>
          <p:cNvPr id="3" name="TextBox 2">
            <a:extLst>
              <a:ext uri="{FF2B5EF4-FFF2-40B4-BE49-F238E27FC236}">
                <a16:creationId xmlns:a16="http://schemas.microsoft.com/office/drawing/2014/main" id="{063EC124-CC29-A703-61C4-E106137D4AA4}"/>
              </a:ext>
            </a:extLst>
          </p:cNvPr>
          <p:cNvSpPr txBox="1"/>
          <p:nvPr/>
        </p:nvSpPr>
        <p:spPr>
          <a:xfrm>
            <a:off x="838199" y="2232264"/>
            <a:ext cx="8315425" cy="1846659"/>
          </a:xfrm>
          <a:prstGeom prst="rect">
            <a:avLst/>
          </a:prstGeom>
          <a:noFill/>
        </p:spPr>
        <p:txBody>
          <a:bodyPr wrap="square">
            <a:spAutoFit/>
          </a:bodyPr>
          <a:lstStyle/>
          <a:p>
            <a:pPr marL="285750" indent="-285750">
              <a:buFontTx/>
              <a:buChar char="-"/>
            </a:pPr>
            <a:r>
              <a:rPr lang="en-GB" sz="1600" dirty="0"/>
              <a:t>5 main scripts defining:</a:t>
            </a:r>
          </a:p>
          <a:p>
            <a:pPr marL="742950" lvl="1" indent="-285750">
              <a:buFontTx/>
              <a:buChar char="-"/>
            </a:pPr>
            <a:r>
              <a:rPr lang="en-GB" sz="1600" dirty="0"/>
              <a:t>Agents</a:t>
            </a:r>
          </a:p>
          <a:p>
            <a:pPr marL="742950" lvl="1" indent="-285750">
              <a:buFontTx/>
              <a:buChar char="-"/>
            </a:pPr>
            <a:r>
              <a:rPr lang="en-GB" sz="1600" dirty="0"/>
              <a:t>Model</a:t>
            </a:r>
          </a:p>
          <a:p>
            <a:pPr marL="742950" lvl="1" indent="-285750">
              <a:buFontTx/>
              <a:buChar char="-"/>
            </a:pPr>
            <a:r>
              <a:rPr lang="en-GB" sz="1600" dirty="0"/>
              <a:t>Setup</a:t>
            </a:r>
          </a:p>
          <a:p>
            <a:pPr marL="742950" lvl="1" indent="-285750">
              <a:buFontTx/>
              <a:buChar char="-"/>
            </a:pPr>
            <a:r>
              <a:rPr lang="en-GB" sz="1600" dirty="0"/>
              <a:t>Run</a:t>
            </a:r>
          </a:p>
          <a:p>
            <a:pPr marL="742950" lvl="1" indent="-285750">
              <a:buFontTx/>
              <a:buChar char="-"/>
            </a:pPr>
            <a:r>
              <a:rPr lang="en-GB" sz="1600" dirty="0"/>
              <a:t>Scenarios</a:t>
            </a:r>
          </a:p>
          <a:p>
            <a:pPr marL="742950" lvl="1" indent="-285750">
              <a:buFontTx/>
              <a:buChar char="-"/>
            </a:pPr>
            <a:endParaRPr lang="es-ES" dirty="0"/>
          </a:p>
        </p:txBody>
      </p:sp>
    </p:spTree>
    <p:extLst>
      <p:ext uri="{BB962C8B-B14F-4D97-AF65-F5344CB8AC3E}">
        <p14:creationId xmlns:p14="http://schemas.microsoft.com/office/powerpoint/2010/main" val="83820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8832-5AAA-A193-241F-1D19961A5ECA}"/>
              </a:ext>
            </a:extLst>
          </p:cNvPr>
          <p:cNvSpPr>
            <a:spLocks noGrp="1"/>
          </p:cNvSpPr>
          <p:nvPr>
            <p:ph type="title"/>
          </p:nvPr>
        </p:nvSpPr>
        <p:spPr>
          <a:xfrm>
            <a:off x="1048407" y="136635"/>
            <a:ext cx="10515600" cy="1325563"/>
          </a:xfrm>
        </p:spPr>
        <p:txBody>
          <a:bodyPr>
            <a:normAutofit/>
          </a:bodyPr>
          <a:lstStyle/>
          <a:p>
            <a:r>
              <a:rPr lang="en-US" dirty="0"/>
              <a:t>How do survey-based ABMs look like? </a:t>
            </a:r>
          </a:p>
        </p:txBody>
      </p:sp>
      <p:sp>
        <p:nvSpPr>
          <p:cNvPr id="3" name="Content Placeholder 2">
            <a:extLst>
              <a:ext uri="{FF2B5EF4-FFF2-40B4-BE49-F238E27FC236}">
                <a16:creationId xmlns:a16="http://schemas.microsoft.com/office/drawing/2014/main" id="{D0372C99-E674-8EE2-B417-2A65DAEBB0BF}"/>
              </a:ext>
            </a:extLst>
          </p:cNvPr>
          <p:cNvSpPr>
            <a:spLocks noGrp="1"/>
          </p:cNvSpPr>
          <p:nvPr>
            <p:ph idx="1"/>
          </p:nvPr>
        </p:nvSpPr>
        <p:spPr>
          <a:xfrm>
            <a:off x="0" y="2016732"/>
            <a:ext cx="4420192" cy="4257944"/>
          </a:xfrm>
        </p:spPr>
        <p:txBody>
          <a:bodyPr>
            <a:normAutofit/>
          </a:bodyPr>
          <a:lstStyle/>
          <a:p>
            <a:pPr lvl="1"/>
            <a:r>
              <a:rPr lang="en-GB" sz="1800" dirty="0"/>
              <a:t>Statistical model defines rules of </a:t>
            </a:r>
            <a:r>
              <a:rPr lang="en-GB" sz="1800" dirty="0" err="1"/>
              <a:t>behavior</a:t>
            </a:r>
            <a:r>
              <a:rPr lang="en-GB" sz="1800" dirty="0"/>
              <a:t>. We use ABM to reproduce individual life histories over time, letting agents shift status according to the fitted parameters (Carrasco, Mak, and </a:t>
            </a:r>
            <a:r>
              <a:rPr lang="en-GB" sz="1800" dirty="0" err="1"/>
              <a:t>Hinsch</a:t>
            </a:r>
            <a:r>
              <a:rPr lang="en-GB" sz="1800" dirty="0"/>
              <a:t>, 2023).</a:t>
            </a:r>
            <a:endParaRPr lang="en-US" sz="1800" dirty="0"/>
          </a:p>
          <a:p>
            <a:pPr lvl="1"/>
            <a:endParaRPr lang="en-US" sz="1800" dirty="0"/>
          </a:p>
          <a:p>
            <a:pPr lvl="1"/>
            <a:r>
              <a:rPr lang="en-US" sz="1800" dirty="0"/>
              <a:t>Why would we be interested?</a:t>
            </a:r>
          </a:p>
          <a:p>
            <a:pPr lvl="2"/>
            <a:r>
              <a:rPr lang="en-US" sz="1600" dirty="0"/>
              <a:t>Alternative scenarios: different effect of parameters.</a:t>
            </a:r>
          </a:p>
          <a:p>
            <a:pPr lvl="2"/>
            <a:r>
              <a:rPr lang="en-US" sz="1600" dirty="0"/>
              <a:t>Add theoretical features, explicit modelling of agents’ properties.</a:t>
            </a:r>
          </a:p>
          <a:p>
            <a:pPr lvl="2"/>
            <a:r>
              <a:rPr lang="en-US" sz="1600" dirty="0"/>
              <a:t>Forecasting based on dynamics given by previous behavior. </a:t>
            </a:r>
          </a:p>
        </p:txBody>
      </p:sp>
      <p:pic>
        <p:nvPicPr>
          <p:cNvPr id="4" name="Content Placeholder 4" descr="A picture containing text, diagram, line, plot&#10;&#10;Description automatically generated">
            <a:extLst>
              <a:ext uri="{FF2B5EF4-FFF2-40B4-BE49-F238E27FC236}">
                <a16:creationId xmlns:a16="http://schemas.microsoft.com/office/drawing/2014/main" id="{F951678A-6877-2243-177A-26640BF7F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909" y="2132347"/>
            <a:ext cx="7551091" cy="3624626"/>
          </a:xfrm>
          <a:prstGeom prst="rect">
            <a:avLst/>
          </a:prstGeom>
        </p:spPr>
      </p:pic>
    </p:spTree>
    <p:extLst>
      <p:ext uri="{BB962C8B-B14F-4D97-AF65-F5344CB8AC3E}">
        <p14:creationId xmlns:p14="http://schemas.microsoft.com/office/powerpoint/2010/main" val="3978684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AF2A-1E92-4745-8A44-907398137C2A}"/>
              </a:ext>
            </a:extLst>
          </p:cNvPr>
          <p:cNvSpPr>
            <a:spLocks noGrp="1"/>
          </p:cNvSpPr>
          <p:nvPr>
            <p:ph type="title"/>
          </p:nvPr>
        </p:nvSpPr>
        <p:spPr/>
        <p:txBody>
          <a:bodyPr>
            <a:normAutofit/>
          </a:bodyPr>
          <a:lstStyle/>
          <a:p>
            <a:r>
              <a:rPr dirty="0">
                <a:solidFill>
                  <a:schemeClr val="accent1"/>
                </a:solidFill>
              </a:rPr>
              <a:t>“</a:t>
            </a:r>
            <a:r>
              <a:rPr lang="es-ES" dirty="0" err="1">
                <a:solidFill>
                  <a:schemeClr val="accent1"/>
                </a:solidFill>
              </a:rPr>
              <a:t>Implementing</a:t>
            </a:r>
            <a:r>
              <a:rPr lang="es-ES" dirty="0">
                <a:solidFill>
                  <a:schemeClr val="accent1"/>
                </a:solidFill>
              </a:rPr>
              <a:t> </a:t>
            </a:r>
            <a:r>
              <a:rPr lang="en-US" dirty="0">
                <a:solidFill>
                  <a:schemeClr val="accent1"/>
                </a:solidFill>
              </a:rPr>
              <a:t>Agent Based Modelling (ABM) informed by survey data in three steps</a:t>
            </a:r>
            <a:r>
              <a:rPr dirty="0">
                <a:solidFill>
                  <a:schemeClr val="accent1"/>
                </a:solidFill>
              </a:rPr>
              <a:t>”</a:t>
            </a:r>
          </a:p>
        </p:txBody>
      </p:sp>
      <p:sp>
        <p:nvSpPr>
          <p:cNvPr id="3" name="Content Placeholder 2">
            <a:extLst>
              <a:ext uri="{FF2B5EF4-FFF2-40B4-BE49-F238E27FC236}">
                <a16:creationId xmlns:a16="http://schemas.microsoft.com/office/drawing/2014/main" id="{D4DDFDCB-211D-40E7-949E-90959D7FA47B}"/>
              </a:ext>
            </a:extLst>
          </p:cNvPr>
          <p:cNvSpPr>
            <a:spLocks noGrp="1"/>
          </p:cNvSpPr>
          <p:nvPr>
            <p:ph idx="1"/>
          </p:nvPr>
        </p:nvSpPr>
        <p:spPr>
          <a:xfrm>
            <a:off x="165539" y="2065392"/>
            <a:ext cx="10996448" cy="4290958"/>
          </a:xfrm>
        </p:spPr>
        <p:txBody>
          <a:bodyPr>
            <a:normAutofit/>
          </a:bodyPr>
          <a:lstStyle/>
          <a:p>
            <a:pPr marL="914400" lvl="1" indent="-457200">
              <a:buFont typeface="+mj-lt"/>
              <a:buAutoNum type="arabicPeriod"/>
            </a:pPr>
            <a:r>
              <a:rPr lang="es-ES" dirty="0" err="1"/>
              <a:t>Estimate</a:t>
            </a:r>
            <a:r>
              <a:rPr lang="es-ES" dirty="0"/>
              <a:t> individual </a:t>
            </a:r>
            <a:r>
              <a:rPr lang="es-ES" dirty="0" err="1"/>
              <a:t>probabilities</a:t>
            </a:r>
            <a:r>
              <a:rPr lang="es-ES" dirty="0"/>
              <a:t> </a:t>
            </a:r>
            <a:r>
              <a:rPr lang="es-ES" dirty="0" err="1"/>
              <a:t>of</a:t>
            </a:r>
            <a:r>
              <a:rPr lang="es-ES" dirty="0"/>
              <a:t> </a:t>
            </a:r>
            <a:r>
              <a:rPr lang="es-ES" dirty="0" err="1"/>
              <a:t>first</a:t>
            </a:r>
            <a:r>
              <a:rPr lang="es-ES" dirty="0"/>
              <a:t> </a:t>
            </a:r>
            <a:r>
              <a:rPr lang="es-ES" dirty="0" err="1"/>
              <a:t>international</a:t>
            </a:r>
            <a:r>
              <a:rPr lang="es-ES" dirty="0"/>
              <a:t> </a:t>
            </a:r>
            <a:r>
              <a:rPr lang="es-ES" dirty="0" err="1"/>
              <a:t>trip</a:t>
            </a:r>
            <a:r>
              <a:rPr lang="es-ES" dirty="0"/>
              <a:t> to </a:t>
            </a:r>
            <a:r>
              <a:rPr lang="es-ES" dirty="0" err="1"/>
              <a:t>destinations</a:t>
            </a:r>
            <a:r>
              <a:rPr lang="es-ES" dirty="0"/>
              <a:t> </a:t>
            </a:r>
            <a:r>
              <a:rPr lang="es-ES" dirty="0" err="1"/>
              <a:t>of</a:t>
            </a:r>
            <a:r>
              <a:rPr lang="es-ES" dirty="0"/>
              <a:t> </a:t>
            </a:r>
            <a:r>
              <a:rPr lang="es-ES" dirty="0" err="1"/>
              <a:t>interest</a:t>
            </a:r>
            <a:r>
              <a:rPr lang="es-ES" dirty="0"/>
              <a:t> </a:t>
            </a:r>
            <a:r>
              <a:rPr lang="es-ES" dirty="0" err="1"/>
              <a:t>using</a:t>
            </a:r>
            <a:r>
              <a:rPr lang="es-ES" dirty="0"/>
              <a:t> </a:t>
            </a:r>
            <a:r>
              <a:rPr lang="es-ES" dirty="0" err="1"/>
              <a:t>stats</a:t>
            </a:r>
            <a:r>
              <a:rPr lang="es-ES" dirty="0"/>
              <a:t> </a:t>
            </a:r>
            <a:r>
              <a:rPr lang="es-ES" dirty="0" err="1"/>
              <a:t>model</a:t>
            </a:r>
            <a:r>
              <a:rPr lang="es-ES" dirty="0"/>
              <a:t> </a:t>
            </a:r>
            <a:r>
              <a:rPr lang="es-ES" dirty="0" err="1"/>
              <a:t>of</a:t>
            </a:r>
            <a:r>
              <a:rPr lang="es-ES" dirty="0"/>
              <a:t> </a:t>
            </a:r>
            <a:r>
              <a:rPr lang="es-ES" dirty="0" err="1"/>
              <a:t>interest</a:t>
            </a:r>
            <a:r>
              <a:rPr lang="es-ES" dirty="0"/>
              <a:t>.</a:t>
            </a:r>
          </a:p>
          <a:p>
            <a:pPr marL="914400" lvl="1" indent="-457200">
              <a:buFont typeface="+mj-lt"/>
              <a:buAutoNum type="arabicPeriod"/>
            </a:pPr>
            <a:r>
              <a:rPr lang="en-US" dirty="0"/>
              <a:t>Reproduce individual life histories over time, letting individuals migrate according to the fitted parameters.</a:t>
            </a:r>
          </a:p>
          <a:p>
            <a:pPr lvl="2"/>
            <a:r>
              <a:rPr lang="en-US" dirty="0"/>
              <a:t>Agent Based Modelling </a:t>
            </a:r>
            <a:r>
              <a:rPr lang="en-US" b="1" dirty="0"/>
              <a:t>(ABM).</a:t>
            </a:r>
            <a:endParaRPr lang="en-US" dirty="0"/>
          </a:p>
          <a:p>
            <a:pPr lvl="2"/>
            <a:r>
              <a:rPr lang="en-US" dirty="0"/>
              <a:t>Decision function is based on estimated coefficients.</a:t>
            </a:r>
          </a:p>
          <a:p>
            <a:pPr marL="914400" lvl="1" indent="-457200">
              <a:buFont typeface="+mj-lt"/>
              <a:buAutoNum type="arabicPeriod"/>
            </a:pPr>
            <a:r>
              <a:rPr lang="es-ES" dirty="0" err="1"/>
              <a:t>Simulate</a:t>
            </a:r>
            <a:r>
              <a:rPr lang="es-ES" dirty="0"/>
              <a:t> s</a:t>
            </a:r>
            <a:r>
              <a:rPr dirty="0" err="1"/>
              <a:t>cenarios</a:t>
            </a:r>
            <a:r>
              <a:rPr dirty="0"/>
              <a:t> o</a:t>
            </a:r>
            <a:r>
              <a:rPr lang="es-ES" dirty="0"/>
              <a:t>r</a:t>
            </a:r>
            <a:r>
              <a:rPr dirty="0"/>
              <a:t> </a:t>
            </a:r>
            <a:r>
              <a:rPr b="1" dirty="0"/>
              <a:t>what if hypothetical cases </a:t>
            </a:r>
            <a:r>
              <a:rPr dirty="0"/>
              <a:t>where networks effects are modified.</a:t>
            </a:r>
            <a:endParaRPr lang="es-ES" dirty="0"/>
          </a:p>
        </p:txBody>
      </p:sp>
      <p:sp>
        <p:nvSpPr>
          <p:cNvPr id="4" name="Slide Number Placeholder 3">
            <a:extLst>
              <a:ext uri="{FF2B5EF4-FFF2-40B4-BE49-F238E27FC236}">
                <a16:creationId xmlns:a16="http://schemas.microsoft.com/office/drawing/2014/main" id="{4FA20C88-FA29-FFFE-DA34-B2E9497B8C57}"/>
              </a:ext>
            </a:extLst>
          </p:cNvPr>
          <p:cNvSpPr>
            <a:spLocks noGrp="1"/>
          </p:cNvSpPr>
          <p:nvPr>
            <p:ph type="sldNum" sz="quarter" idx="12"/>
          </p:nvPr>
        </p:nvSpPr>
        <p:spPr/>
        <p:txBody>
          <a:bodyPr/>
          <a:lstStyle/>
          <a:p>
            <a:fld id="{8C659ED5-29AE-4BD1-8EF3-23727FB2C0DE}" type="slidenum">
              <a:rPr lang="es-ES" smtClean="0"/>
              <a:t>9</a:t>
            </a:fld>
            <a:endParaRPr lang="es-ES"/>
          </a:p>
        </p:txBody>
      </p:sp>
    </p:spTree>
    <p:extLst>
      <p:ext uri="{BB962C8B-B14F-4D97-AF65-F5344CB8AC3E}">
        <p14:creationId xmlns:p14="http://schemas.microsoft.com/office/powerpoint/2010/main" val="2429233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AF2A-1E92-4745-8A44-907398137C2A}"/>
              </a:ext>
            </a:extLst>
          </p:cNvPr>
          <p:cNvSpPr>
            <a:spLocks noGrp="1"/>
          </p:cNvSpPr>
          <p:nvPr>
            <p:ph type="title"/>
          </p:nvPr>
        </p:nvSpPr>
        <p:spPr/>
        <p:txBody>
          <a:bodyPr>
            <a:normAutofit/>
          </a:bodyPr>
          <a:lstStyle/>
          <a:p>
            <a:pPr marL="0" lvl="0" indent="0"/>
            <a:r>
              <a:rPr dirty="0">
                <a:solidFill>
                  <a:schemeClr val="accent1"/>
                </a:solidFill>
              </a:rPr>
              <a:t>Data</a:t>
            </a:r>
          </a:p>
        </p:txBody>
      </p:sp>
      <p:sp>
        <p:nvSpPr>
          <p:cNvPr id="3" name="Content Placeholder 2">
            <a:extLst>
              <a:ext uri="{FF2B5EF4-FFF2-40B4-BE49-F238E27FC236}">
                <a16:creationId xmlns:a16="http://schemas.microsoft.com/office/drawing/2014/main" id="{D4DDFDCB-211D-40E7-949E-90959D7FA47B}"/>
              </a:ext>
            </a:extLst>
          </p:cNvPr>
          <p:cNvSpPr>
            <a:spLocks noGrp="1"/>
          </p:cNvSpPr>
          <p:nvPr>
            <p:ph idx="1"/>
          </p:nvPr>
        </p:nvSpPr>
        <p:spPr>
          <a:xfrm>
            <a:off x="838200" y="1604907"/>
            <a:ext cx="10515600" cy="4351338"/>
          </a:xfrm>
        </p:spPr>
        <p:txBody>
          <a:bodyPr/>
          <a:lstStyle/>
          <a:p>
            <a:pPr lvl="1"/>
            <a:r>
              <a:rPr dirty="0"/>
              <a:t>Latin American Migration Project (</a:t>
            </a:r>
            <a:r>
              <a:rPr b="1" dirty="0"/>
              <a:t>LAMP</a:t>
            </a:r>
            <a:r>
              <a:rPr dirty="0"/>
              <a:t>)</a:t>
            </a:r>
          </a:p>
          <a:p>
            <a:pPr lvl="2"/>
            <a:r>
              <a:rPr dirty="0"/>
              <a:t>14 communities collected between 2008 and 2014. 200 HH p/community.</a:t>
            </a:r>
          </a:p>
          <a:p>
            <a:pPr lvl="2"/>
            <a:r>
              <a:rPr dirty="0"/>
              <a:t>Life-histories.</a:t>
            </a:r>
            <a:endParaRPr lang="es-ES" dirty="0"/>
          </a:p>
          <a:p>
            <a:pPr lvl="2"/>
            <a:r>
              <a:rPr lang="es-ES" dirty="0"/>
              <a:t>2900 </a:t>
            </a:r>
            <a:r>
              <a:rPr lang="es-ES" dirty="0" err="1"/>
              <a:t>individuals</a:t>
            </a:r>
            <a:r>
              <a:rPr lang="es-ES" dirty="0"/>
              <a:t>; 366 </a:t>
            </a:r>
            <a:r>
              <a:rPr lang="es-ES" dirty="0" err="1"/>
              <a:t>migrants</a:t>
            </a:r>
            <a:r>
              <a:rPr lang="es-ES" dirty="0"/>
              <a:t>; 89552 </a:t>
            </a:r>
            <a:r>
              <a:rPr lang="es-ES" dirty="0" err="1"/>
              <a:t>person-years</a:t>
            </a:r>
            <a:r>
              <a:rPr lang="es-ES" dirty="0"/>
              <a:t>.</a:t>
            </a:r>
            <a:endParaRPr dirty="0"/>
          </a:p>
          <a:p>
            <a:pPr lvl="1"/>
            <a:r>
              <a:rPr dirty="0"/>
              <a:t>Macroscopic data:</a:t>
            </a:r>
          </a:p>
          <a:p>
            <a:pPr lvl="2"/>
            <a:r>
              <a:rPr dirty="0"/>
              <a:t>Economic information concerning GDP growth in Colombia, employment growth in the United States and Spain, and oil prices are drawn from of official figures gathered by The </a:t>
            </a:r>
            <a:r>
              <a:rPr b="1" dirty="0"/>
              <a:t>World Bank</a:t>
            </a:r>
            <a:r>
              <a:rPr dirty="0"/>
              <a:t>, </a:t>
            </a:r>
            <a:r>
              <a:rPr b="1" dirty="0"/>
              <a:t>OECD</a:t>
            </a:r>
            <a:r>
              <a:rPr dirty="0"/>
              <a:t>, and </a:t>
            </a:r>
            <a:r>
              <a:rPr b="1" dirty="0"/>
              <a:t>OPEC</a:t>
            </a:r>
            <a:r>
              <a:rPr dirty="0"/>
              <a:t>.</a:t>
            </a:r>
          </a:p>
          <a:p>
            <a:pPr lvl="2"/>
            <a:r>
              <a:rPr dirty="0"/>
              <a:t>Violence associated to the armed conflict in Colombia: </a:t>
            </a:r>
            <a:r>
              <a:rPr b="1" dirty="0"/>
              <a:t>UCDP/PRIO Armed conflict dataset </a:t>
            </a:r>
            <a:r>
              <a:rPr dirty="0"/>
              <a:t>(</a:t>
            </a:r>
            <a:r>
              <a:rPr dirty="0" err="1"/>
              <a:t>Pettersson</a:t>
            </a:r>
            <a:r>
              <a:rPr dirty="0"/>
              <a:t> and </a:t>
            </a:r>
            <a:r>
              <a:rPr dirty="0" err="1"/>
              <a:t>Öberg</a:t>
            </a:r>
            <a:r>
              <a:rPr dirty="0"/>
              <a:t> (2020)).</a:t>
            </a:r>
          </a:p>
          <a:p>
            <a:pPr lvl="2"/>
            <a:r>
              <a:rPr dirty="0"/>
              <a:t>Border stringency: Determinants of Migration Policy Database (</a:t>
            </a:r>
            <a:r>
              <a:rPr b="1" dirty="0"/>
              <a:t>DEMIG</a:t>
            </a:r>
            <a:r>
              <a:rPr dirty="0"/>
              <a:t>) (Haas, Natter, and Vezzoli (2016)) to account for changes in border policy stringency in the United States and Spain.</a:t>
            </a:r>
          </a:p>
        </p:txBody>
      </p:sp>
    </p:spTree>
    <p:extLst>
      <p:ext uri="{BB962C8B-B14F-4D97-AF65-F5344CB8AC3E}">
        <p14:creationId xmlns:p14="http://schemas.microsoft.com/office/powerpoint/2010/main" val="2743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D563-B854-E585-A2FC-773E7A790D9F}"/>
              </a:ext>
            </a:extLst>
          </p:cNvPr>
          <p:cNvSpPr>
            <a:spLocks noGrp="1"/>
          </p:cNvSpPr>
          <p:nvPr>
            <p:ph type="title"/>
          </p:nvPr>
        </p:nvSpPr>
        <p:spPr>
          <a:xfrm>
            <a:off x="838200" y="145885"/>
            <a:ext cx="10515600" cy="1325563"/>
          </a:xfrm>
        </p:spPr>
        <p:txBody>
          <a:bodyPr>
            <a:normAutofit fontScale="90000"/>
          </a:bodyPr>
          <a:lstStyle/>
          <a:p>
            <a:r>
              <a:rPr lang="en-US" sz="3600" dirty="0"/>
              <a:t>We can also add information on macro level changes, such as the relative changes in border stringency in the US and Spain. </a:t>
            </a:r>
          </a:p>
        </p:txBody>
      </p:sp>
      <p:grpSp>
        <p:nvGrpSpPr>
          <p:cNvPr id="6" name="Group 5">
            <a:extLst>
              <a:ext uri="{FF2B5EF4-FFF2-40B4-BE49-F238E27FC236}">
                <a16:creationId xmlns:a16="http://schemas.microsoft.com/office/drawing/2014/main" id="{01738E2F-1C41-4AF7-3259-4C2F93AE7D5A}"/>
              </a:ext>
            </a:extLst>
          </p:cNvPr>
          <p:cNvGrpSpPr/>
          <p:nvPr/>
        </p:nvGrpSpPr>
        <p:grpSpPr>
          <a:xfrm>
            <a:off x="1027385" y="1552189"/>
            <a:ext cx="10461010" cy="5159926"/>
            <a:chOff x="838199" y="1280784"/>
            <a:chExt cx="10461010" cy="5159926"/>
          </a:xfrm>
        </p:grpSpPr>
        <p:pic>
          <p:nvPicPr>
            <p:cNvPr id="4" name="Picture 3" descr="A picture containing text, diagram, line, screenshot&#10;&#10;Description automatically generated">
              <a:extLst>
                <a:ext uri="{FF2B5EF4-FFF2-40B4-BE49-F238E27FC236}">
                  <a16:creationId xmlns:a16="http://schemas.microsoft.com/office/drawing/2014/main" id="{0F13FFC8-77D5-55C9-DDBD-B875545EB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1280784"/>
              <a:ext cx="10461010" cy="5021427"/>
            </a:xfrm>
            <a:prstGeom prst="rect">
              <a:avLst/>
            </a:prstGeom>
          </p:spPr>
        </p:pic>
        <p:sp>
          <p:nvSpPr>
            <p:cNvPr id="5" name="TextBox 4">
              <a:extLst>
                <a:ext uri="{FF2B5EF4-FFF2-40B4-BE49-F238E27FC236}">
                  <a16:creationId xmlns:a16="http://schemas.microsoft.com/office/drawing/2014/main" id="{E432F40D-D41E-6A89-1A5C-92B4D1D06CE7}"/>
                </a:ext>
              </a:extLst>
            </p:cNvPr>
            <p:cNvSpPr txBox="1"/>
            <p:nvPr/>
          </p:nvSpPr>
          <p:spPr>
            <a:xfrm>
              <a:off x="6187965" y="6163711"/>
              <a:ext cx="3576145" cy="276999"/>
            </a:xfrm>
            <a:prstGeom prst="rect">
              <a:avLst/>
            </a:prstGeom>
            <a:noFill/>
          </p:spPr>
          <p:txBody>
            <a:bodyPr wrap="square">
              <a:spAutoFit/>
            </a:bodyPr>
            <a:lstStyle/>
            <a:p>
              <a:pPr lvl="1"/>
              <a:r>
                <a:rPr lang="es-ES" sz="1200" dirty="0" err="1"/>
                <a:t>Source</a:t>
              </a:r>
              <a:r>
                <a:rPr lang="es-ES" sz="1200" dirty="0"/>
                <a:t>: </a:t>
              </a:r>
              <a:r>
                <a:rPr lang="es-ES" sz="1200" dirty="0" err="1"/>
                <a:t>own</a:t>
              </a:r>
              <a:r>
                <a:rPr lang="es-ES" sz="1200" dirty="0"/>
                <a:t> </a:t>
              </a:r>
              <a:r>
                <a:rPr lang="es-ES" sz="1200" dirty="0" err="1"/>
                <a:t>elaboration</a:t>
              </a:r>
              <a:r>
                <a:rPr lang="es-ES" sz="1200" dirty="0"/>
                <a:t> </a:t>
              </a:r>
              <a:r>
                <a:rPr lang="es-ES" sz="1200" dirty="0" err="1"/>
                <a:t>based</a:t>
              </a:r>
              <a:r>
                <a:rPr lang="es-ES" sz="1200" dirty="0"/>
                <a:t> on DEMIG data</a:t>
              </a:r>
            </a:p>
          </p:txBody>
        </p:sp>
      </p:grpSp>
    </p:spTree>
    <p:extLst>
      <p:ext uri="{BB962C8B-B14F-4D97-AF65-F5344CB8AC3E}">
        <p14:creationId xmlns:p14="http://schemas.microsoft.com/office/powerpoint/2010/main" val="1557000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0990-B00B-01E7-5C74-E48B7D520D2D}"/>
              </a:ext>
            </a:extLst>
          </p:cNvPr>
          <p:cNvSpPr>
            <a:spLocks noGrp="1"/>
          </p:cNvSpPr>
          <p:nvPr>
            <p:ph type="title"/>
          </p:nvPr>
        </p:nvSpPr>
        <p:spPr>
          <a:xfrm>
            <a:off x="838200" y="528754"/>
            <a:ext cx="10515600" cy="1325563"/>
          </a:xfrm>
        </p:spPr>
        <p:txBody>
          <a:bodyPr/>
          <a:lstStyle/>
          <a:p>
            <a:r>
              <a:rPr lang="en-US" dirty="0"/>
              <a:t>Survey-based ABM in </a:t>
            </a:r>
          </a:p>
        </p:txBody>
      </p:sp>
      <p:sp>
        <p:nvSpPr>
          <p:cNvPr id="3" name="TextBox 2">
            <a:extLst>
              <a:ext uri="{FF2B5EF4-FFF2-40B4-BE49-F238E27FC236}">
                <a16:creationId xmlns:a16="http://schemas.microsoft.com/office/drawing/2014/main" id="{063EC124-CC29-A703-61C4-E106137D4AA4}"/>
              </a:ext>
            </a:extLst>
          </p:cNvPr>
          <p:cNvSpPr txBox="1"/>
          <p:nvPr/>
        </p:nvSpPr>
        <p:spPr>
          <a:xfrm>
            <a:off x="838199" y="2232264"/>
            <a:ext cx="8315425" cy="2339102"/>
          </a:xfrm>
          <a:prstGeom prst="rect">
            <a:avLst/>
          </a:prstGeom>
          <a:noFill/>
        </p:spPr>
        <p:txBody>
          <a:bodyPr wrap="square">
            <a:spAutoFit/>
          </a:bodyPr>
          <a:lstStyle/>
          <a:p>
            <a:pPr marL="285750" indent="-285750">
              <a:buFontTx/>
              <a:buChar char="-"/>
            </a:pPr>
            <a:r>
              <a:rPr lang="en-GB" sz="1600" dirty="0"/>
              <a:t>Brief description of the data and the statistical model.</a:t>
            </a:r>
          </a:p>
          <a:p>
            <a:pPr marL="285750" indent="-285750">
              <a:buFontTx/>
              <a:buChar char="-"/>
            </a:pPr>
            <a:r>
              <a:rPr lang="en-GB" sz="1600" dirty="0"/>
              <a:t>5 main scripts defining:</a:t>
            </a:r>
          </a:p>
          <a:p>
            <a:pPr marL="742950" lvl="1" indent="-285750">
              <a:buFontTx/>
              <a:buChar char="-"/>
            </a:pPr>
            <a:r>
              <a:rPr lang="en-GB" sz="1600" b="1" dirty="0"/>
              <a:t>Import</a:t>
            </a:r>
          </a:p>
          <a:p>
            <a:pPr marL="742950" lvl="1" indent="-285750">
              <a:buFontTx/>
              <a:buChar char="-"/>
            </a:pPr>
            <a:r>
              <a:rPr lang="en-GB" sz="1600" dirty="0"/>
              <a:t>Agents</a:t>
            </a:r>
          </a:p>
          <a:p>
            <a:pPr marL="742950" lvl="1" indent="-285750">
              <a:buFontTx/>
              <a:buChar char="-"/>
            </a:pPr>
            <a:r>
              <a:rPr lang="en-GB" sz="1600" dirty="0"/>
              <a:t>Model: rules of </a:t>
            </a:r>
            <a:r>
              <a:rPr lang="en-GB" sz="1600" dirty="0" err="1"/>
              <a:t>behavior</a:t>
            </a:r>
            <a:r>
              <a:rPr lang="en-GB" sz="1600" dirty="0"/>
              <a:t> defined by statistical model. </a:t>
            </a:r>
          </a:p>
          <a:p>
            <a:pPr marL="742950" lvl="1" indent="-285750">
              <a:buFontTx/>
              <a:buChar char="-"/>
            </a:pPr>
            <a:r>
              <a:rPr lang="en-GB" sz="1600" dirty="0"/>
              <a:t>Setup</a:t>
            </a:r>
          </a:p>
          <a:p>
            <a:pPr marL="742950" lvl="1" indent="-285750">
              <a:buFontTx/>
              <a:buChar char="-"/>
            </a:pPr>
            <a:r>
              <a:rPr lang="en-GB" sz="1600" dirty="0"/>
              <a:t>Run</a:t>
            </a:r>
          </a:p>
          <a:p>
            <a:pPr marL="742950" lvl="1" indent="-285750">
              <a:buFontTx/>
              <a:buChar char="-"/>
            </a:pPr>
            <a:r>
              <a:rPr lang="en-GB" sz="1600" dirty="0"/>
              <a:t>Scenarios</a:t>
            </a:r>
          </a:p>
          <a:p>
            <a:pPr marL="742950" lvl="1" indent="-285750">
              <a:buFontTx/>
              <a:buChar char="-"/>
            </a:pPr>
            <a:endParaRPr lang="es-ES" dirty="0"/>
          </a:p>
        </p:txBody>
      </p:sp>
      <p:pic>
        <p:nvPicPr>
          <p:cNvPr id="4" name="Picture 3" descr="A picture containing graphics, font, logo, graphic design&#10;&#10;Description automatically generated">
            <a:extLst>
              <a:ext uri="{FF2B5EF4-FFF2-40B4-BE49-F238E27FC236}">
                <a16:creationId xmlns:a16="http://schemas.microsoft.com/office/drawing/2014/main" id="{B45BED80-9AE5-EA33-104C-6F7295065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8348" y="767368"/>
            <a:ext cx="1061628" cy="682475"/>
          </a:xfrm>
          <a:prstGeom prst="rect">
            <a:avLst/>
          </a:prstGeom>
        </p:spPr>
      </p:pic>
    </p:spTree>
    <p:extLst>
      <p:ext uri="{BB962C8B-B14F-4D97-AF65-F5344CB8AC3E}">
        <p14:creationId xmlns:p14="http://schemas.microsoft.com/office/powerpoint/2010/main" val="167283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584CD-3820-3FF6-9D1A-2ABC03216F69}"/>
              </a:ext>
            </a:extLst>
          </p:cNvPr>
          <p:cNvSpPr>
            <a:spLocks noGrp="1"/>
          </p:cNvSpPr>
          <p:nvPr>
            <p:ph type="title"/>
          </p:nvPr>
        </p:nvSpPr>
        <p:spPr>
          <a:xfrm>
            <a:off x="838200" y="261500"/>
            <a:ext cx="10515600" cy="1325563"/>
          </a:xfrm>
        </p:spPr>
        <p:txBody>
          <a:bodyPr>
            <a:normAutofit/>
          </a:bodyPr>
          <a:lstStyle/>
          <a:p>
            <a:r>
              <a:rPr lang="en-GB" sz="3600" dirty="0"/>
              <a:t>Default scenario, all networks and all macro variables disabled</a:t>
            </a:r>
            <a:endParaRPr lang="en-US" sz="3600" dirty="0"/>
          </a:p>
        </p:txBody>
      </p:sp>
      <p:pic>
        <p:nvPicPr>
          <p:cNvPr id="4" name="Picture 3" descr="A picture containing text, diagram, line, plot&#10;&#10;Description automatically generated">
            <a:extLst>
              <a:ext uri="{FF2B5EF4-FFF2-40B4-BE49-F238E27FC236}">
                <a16:creationId xmlns:a16="http://schemas.microsoft.com/office/drawing/2014/main" id="{1DAA073E-FC98-79DB-AD16-932FAA1C1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605" y="1587063"/>
            <a:ext cx="9868833" cy="4737174"/>
          </a:xfrm>
          <a:prstGeom prst="rect">
            <a:avLst/>
          </a:prstGeom>
        </p:spPr>
      </p:pic>
    </p:spTree>
    <p:extLst>
      <p:ext uri="{BB962C8B-B14F-4D97-AF65-F5344CB8AC3E}">
        <p14:creationId xmlns:p14="http://schemas.microsoft.com/office/powerpoint/2010/main" val="2907006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E5C2-FAA8-054B-2905-EBF5D976C363}"/>
              </a:ext>
            </a:extLst>
          </p:cNvPr>
          <p:cNvSpPr>
            <a:spLocks noGrp="1"/>
          </p:cNvSpPr>
          <p:nvPr>
            <p:ph type="title"/>
          </p:nvPr>
        </p:nvSpPr>
        <p:spPr/>
        <p:txBody>
          <a:bodyPr/>
          <a:lstStyle/>
          <a:p>
            <a:r>
              <a:rPr lang="en-GB" sz="3600" dirty="0"/>
              <a:t>Default scenario, family networks and community networks disabled</a:t>
            </a:r>
            <a:endParaRPr lang="en-US" sz="3600" dirty="0"/>
          </a:p>
        </p:txBody>
      </p:sp>
      <p:pic>
        <p:nvPicPr>
          <p:cNvPr id="3" name="Picture 2" descr="A picture containing text, diagram, line, plot&#10;&#10;Description automatically generated">
            <a:extLst>
              <a:ext uri="{FF2B5EF4-FFF2-40B4-BE49-F238E27FC236}">
                <a16:creationId xmlns:a16="http://schemas.microsoft.com/office/drawing/2014/main" id="{9F9EF9E7-544A-4FD5-62DC-DD0C92FC5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976" y="1690688"/>
            <a:ext cx="10082048" cy="4839520"/>
          </a:xfrm>
          <a:prstGeom prst="rect">
            <a:avLst/>
          </a:prstGeom>
        </p:spPr>
      </p:pic>
    </p:spTree>
    <p:extLst>
      <p:ext uri="{BB962C8B-B14F-4D97-AF65-F5344CB8AC3E}">
        <p14:creationId xmlns:p14="http://schemas.microsoft.com/office/powerpoint/2010/main" val="9575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3152-3A55-5F67-2B2C-7FB2C99D5566}"/>
              </a:ext>
            </a:extLst>
          </p:cNvPr>
          <p:cNvSpPr>
            <a:spLocks noGrp="1"/>
          </p:cNvSpPr>
          <p:nvPr>
            <p:ph type="title"/>
          </p:nvPr>
        </p:nvSpPr>
        <p:spPr/>
        <p:txBody>
          <a:bodyPr/>
          <a:lstStyle/>
          <a:p>
            <a:r>
              <a:rPr lang="en-GB" sz="3600" dirty="0"/>
              <a:t>Default, violence, GDP, employment growth, and border scenarios</a:t>
            </a:r>
            <a:endParaRPr lang="en-US" sz="3600" dirty="0"/>
          </a:p>
        </p:txBody>
      </p:sp>
      <p:pic>
        <p:nvPicPr>
          <p:cNvPr id="3" name="Picture 2" descr="A picture containing text, diagram, line, plot&#10;&#10;Description automatically generated">
            <a:extLst>
              <a:ext uri="{FF2B5EF4-FFF2-40B4-BE49-F238E27FC236}">
                <a16:creationId xmlns:a16="http://schemas.microsoft.com/office/drawing/2014/main" id="{F8B3F773-2097-02F3-E4F0-D287A9C7F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317" y="1741775"/>
            <a:ext cx="10073014" cy="4835184"/>
          </a:xfrm>
          <a:prstGeom prst="rect">
            <a:avLst/>
          </a:prstGeom>
        </p:spPr>
      </p:pic>
    </p:spTree>
    <p:extLst>
      <p:ext uri="{BB962C8B-B14F-4D97-AF65-F5344CB8AC3E}">
        <p14:creationId xmlns:p14="http://schemas.microsoft.com/office/powerpoint/2010/main" val="4247162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996D-874F-D0D6-7F2D-A098E772C923}"/>
              </a:ext>
            </a:extLst>
          </p:cNvPr>
          <p:cNvSpPr>
            <a:spLocks noGrp="1"/>
          </p:cNvSpPr>
          <p:nvPr>
            <p:ph type="title"/>
          </p:nvPr>
        </p:nvSpPr>
        <p:spPr/>
        <p:txBody>
          <a:bodyPr/>
          <a:lstStyle/>
          <a:p>
            <a:r>
              <a:rPr lang="en-US" dirty="0"/>
              <a:t>Annex</a:t>
            </a:r>
          </a:p>
        </p:txBody>
      </p:sp>
      <p:sp>
        <p:nvSpPr>
          <p:cNvPr id="3" name="Content Placeholder 2">
            <a:extLst>
              <a:ext uri="{FF2B5EF4-FFF2-40B4-BE49-F238E27FC236}">
                <a16:creationId xmlns:a16="http://schemas.microsoft.com/office/drawing/2014/main" id="{43B07E20-47B0-FBE0-6C59-A8DF2BEB6B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30787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E588-284E-8692-1643-6AFE5D158BBF}"/>
              </a:ext>
            </a:extLst>
          </p:cNvPr>
          <p:cNvSpPr>
            <a:spLocks noGrp="1"/>
          </p:cNvSpPr>
          <p:nvPr>
            <p:ph type="title"/>
          </p:nvPr>
        </p:nvSpPr>
        <p:spPr/>
        <p:txBody>
          <a:bodyPr>
            <a:normAutofit fontScale="90000"/>
          </a:bodyPr>
          <a:lstStyle/>
          <a:p>
            <a:r>
              <a:rPr lang="en-US" sz="3600" dirty="0"/>
              <a:t>Example 3: </a:t>
            </a:r>
            <a:br>
              <a:rPr lang="en-US" sz="3600" dirty="0"/>
            </a:br>
            <a:r>
              <a:rPr lang="en-US" sz="3600" dirty="0" err="1"/>
              <a:t>Billari</a:t>
            </a:r>
            <a:r>
              <a:rPr lang="en-US" sz="3600" dirty="0"/>
              <a:t> et al 2007 studied the role of social pressure on aggregated marriage rates.</a:t>
            </a:r>
          </a:p>
        </p:txBody>
      </p:sp>
      <p:sp>
        <p:nvSpPr>
          <p:cNvPr id="5" name="TextBox 4">
            <a:extLst>
              <a:ext uri="{FF2B5EF4-FFF2-40B4-BE49-F238E27FC236}">
                <a16:creationId xmlns:a16="http://schemas.microsoft.com/office/drawing/2014/main" id="{EFE405F2-F155-E871-05FB-3350BB7AFC3F}"/>
              </a:ext>
            </a:extLst>
          </p:cNvPr>
          <p:cNvSpPr txBox="1"/>
          <p:nvPr/>
        </p:nvSpPr>
        <p:spPr>
          <a:xfrm>
            <a:off x="533455" y="2058807"/>
            <a:ext cx="10227286" cy="584775"/>
          </a:xfrm>
          <a:prstGeom prst="rect">
            <a:avLst/>
          </a:prstGeom>
          <a:noFill/>
        </p:spPr>
        <p:txBody>
          <a:bodyPr wrap="square">
            <a:spAutoFit/>
          </a:bodyPr>
          <a:lstStyle/>
          <a:p>
            <a:pPr algn="just"/>
            <a:r>
              <a:rPr lang="en-GB" sz="1600" b="0" i="0" u="none" strike="noStrike" baseline="0" dirty="0"/>
              <a:t>“The </a:t>
            </a:r>
            <a:r>
              <a:rPr lang="en-GB" sz="1600" b="1" i="0" u="none" strike="noStrike" baseline="0" dirty="0"/>
              <a:t>proportion of married people </a:t>
            </a:r>
            <a:r>
              <a:rPr lang="en-GB" sz="1600" b="0" i="0" u="none" strike="noStrike" baseline="0" dirty="0"/>
              <a:t>within the network of relevant others, </a:t>
            </a:r>
            <a:r>
              <a:rPr lang="en-GB" sz="1600" b="0" i="1" u="none" strike="noStrike" baseline="0" dirty="0"/>
              <a:t>pom</a:t>
            </a:r>
            <a:r>
              <a:rPr lang="en-GB" sz="1600" b="0" i="0" u="none" strike="noStrike" baseline="0" dirty="0"/>
              <a:t>, </a:t>
            </a:r>
            <a:r>
              <a:rPr lang="en-GB" sz="1600" b="1" i="0" u="none" strike="noStrike" baseline="0" dirty="0"/>
              <a:t>determines the social interaction effect</a:t>
            </a:r>
            <a:r>
              <a:rPr lang="en-GB" sz="1600" b="0" i="0" u="none" strike="noStrike" baseline="0" dirty="0"/>
              <a:t>…[s]</a:t>
            </a:r>
            <a:r>
              <a:rPr lang="en-GB" sz="1600" b="0" i="0" u="none" strike="noStrike" baseline="0" dirty="0" err="1"/>
              <a:t>ocial</a:t>
            </a:r>
            <a:r>
              <a:rPr lang="en-GB" sz="1600" b="0" i="0" u="none" strike="noStrike" baseline="0" dirty="0"/>
              <a:t> pressure is defined as a function of </a:t>
            </a:r>
            <a:r>
              <a:rPr lang="en-GB" sz="1600" b="0" i="1" u="none" strike="noStrike" baseline="0" dirty="0"/>
              <a:t>pom”</a:t>
            </a:r>
            <a:endParaRPr lang="en-US" sz="1600" dirty="0"/>
          </a:p>
        </p:txBody>
      </p:sp>
      <p:pic>
        <p:nvPicPr>
          <p:cNvPr id="9" name="Picture 8">
            <a:extLst>
              <a:ext uri="{FF2B5EF4-FFF2-40B4-BE49-F238E27FC236}">
                <a16:creationId xmlns:a16="http://schemas.microsoft.com/office/drawing/2014/main" id="{9453DA29-CB26-42F7-D9C8-2C6557DBA6A0}"/>
              </a:ext>
            </a:extLst>
          </p:cNvPr>
          <p:cNvPicPr>
            <a:picLocks noChangeAspect="1"/>
          </p:cNvPicPr>
          <p:nvPr/>
        </p:nvPicPr>
        <p:blipFill rotWithShape="1">
          <a:blip r:embed="rId2"/>
          <a:srcRect l="37816" t="17544" r="39953" b="71587"/>
          <a:stretch/>
        </p:blipFill>
        <p:spPr>
          <a:xfrm>
            <a:off x="1987672" y="2924000"/>
            <a:ext cx="2710452" cy="745432"/>
          </a:xfrm>
          <a:prstGeom prst="rect">
            <a:avLst/>
          </a:prstGeom>
        </p:spPr>
      </p:pic>
      <p:pic>
        <p:nvPicPr>
          <p:cNvPr id="13" name="Picture 12">
            <a:extLst>
              <a:ext uri="{FF2B5EF4-FFF2-40B4-BE49-F238E27FC236}">
                <a16:creationId xmlns:a16="http://schemas.microsoft.com/office/drawing/2014/main" id="{FD6BF1E2-F5FF-B952-DFFE-A23D863FB545}"/>
              </a:ext>
            </a:extLst>
          </p:cNvPr>
          <p:cNvPicPr>
            <a:picLocks noChangeAspect="1"/>
          </p:cNvPicPr>
          <p:nvPr/>
        </p:nvPicPr>
        <p:blipFill rotWithShape="1">
          <a:blip r:embed="rId3"/>
          <a:srcRect l="30710" t="32000" r="37789" b="22246"/>
          <a:stretch/>
        </p:blipFill>
        <p:spPr>
          <a:xfrm>
            <a:off x="1500352" y="3596477"/>
            <a:ext cx="3840480" cy="3137836"/>
          </a:xfrm>
          <a:prstGeom prst="rect">
            <a:avLst/>
          </a:prstGeom>
        </p:spPr>
      </p:pic>
      <p:pic>
        <p:nvPicPr>
          <p:cNvPr id="15" name="Picture 14">
            <a:extLst>
              <a:ext uri="{FF2B5EF4-FFF2-40B4-BE49-F238E27FC236}">
                <a16:creationId xmlns:a16="http://schemas.microsoft.com/office/drawing/2014/main" id="{E2DD8960-B220-0186-3294-9724D72C7809}"/>
              </a:ext>
            </a:extLst>
          </p:cNvPr>
          <p:cNvPicPr>
            <a:picLocks noChangeAspect="1"/>
          </p:cNvPicPr>
          <p:nvPr/>
        </p:nvPicPr>
        <p:blipFill rotWithShape="1">
          <a:blip r:embed="rId4"/>
          <a:srcRect l="34497" t="29613" r="35470" b="40773"/>
          <a:stretch/>
        </p:blipFill>
        <p:spPr>
          <a:xfrm>
            <a:off x="6347112" y="2778663"/>
            <a:ext cx="5216894" cy="2893570"/>
          </a:xfrm>
          <a:prstGeom prst="rect">
            <a:avLst/>
          </a:prstGeom>
        </p:spPr>
      </p:pic>
    </p:spTree>
    <p:extLst>
      <p:ext uri="{BB962C8B-B14F-4D97-AF65-F5344CB8AC3E}">
        <p14:creationId xmlns:p14="http://schemas.microsoft.com/office/powerpoint/2010/main" val="3466496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6" name="Rectangle 6155">
            <a:extLst>
              <a:ext uri="{FF2B5EF4-FFF2-40B4-BE49-F238E27FC236}">
                <a16:creationId xmlns:a16="http://schemas.microsoft.com/office/drawing/2014/main" id="{AC477752-ACCA-41C1-9B1D-D0CED1F9C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BCFB9CF3-1D1C-F06C-3276-DC3F638192C0}"/>
              </a:ext>
            </a:extLst>
          </p:cNvPr>
          <p:cNvSpPr>
            <a:spLocks noGrp="1"/>
          </p:cNvSpPr>
          <p:nvPr>
            <p:ph type="title"/>
          </p:nvPr>
        </p:nvSpPr>
        <p:spPr>
          <a:xfrm>
            <a:off x="280414" y="108706"/>
            <a:ext cx="11799825" cy="658529"/>
          </a:xfrm>
        </p:spPr>
        <p:txBody>
          <a:bodyPr vert="horz" lIns="91440" tIns="45720" rIns="91440" bIns="45720" rtlCol="0" anchor="ctr">
            <a:normAutofit/>
          </a:bodyPr>
          <a:lstStyle/>
          <a:p>
            <a:pPr algn="ctr"/>
            <a:r>
              <a:rPr lang="en-US" sz="3300" kern="1200" dirty="0">
                <a:solidFill>
                  <a:schemeClr val="tx1"/>
                </a:solidFill>
                <a:latin typeface="+mj-lt"/>
                <a:ea typeface="+mj-ea"/>
                <a:cs typeface="+mj-cs"/>
              </a:rPr>
              <a:t>ABM methods in four steps</a:t>
            </a:r>
          </a:p>
        </p:txBody>
      </p:sp>
      <p:pic>
        <p:nvPicPr>
          <p:cNvPr id="1026" name="Picture 2">
            <a:extLst>
              <a:ext uri="{FF2B5EF4-FFF2-40B4-BE49-F238E27FC236}">
                <a16:creationId xmlns:a16="http://schemas.microsoft.com/office/drawing/2014/main" id="{3DA4A178-53AD-FF1A-9664-C370958980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83485" y="875941"/>
            <a:ext cx="10393682" cy="5873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807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AF2A-1E92-4745-8A44-907398137C2A}"/>
              </a:ext>
            </a:extLst>
          </p:cNvPr>
          <p:cNvSpPr>
            <a:spLocks noGrp="1"/>
          </p:cNvSpPr>
          <p:nvPr>
            <p:ph type="title"/>
          </p:nvPr>
        </p:nvSpPr>
        <p:spPr/>
        <p:txBody>
          <a:bodyPr>
            <a:normAutofit/>
          </a:bodyPr>
          <a:lstStyle/>
          <a:p>
            <a:r>
              <a:rPr dirty="0">
                <a:solidFill>
                  <a:schemeClr val="accent1"/>
                </a:solidFill>
              </a:rPr>
              <a:t>Aim and Research question.</a:t>
            </a:r>
          </a:p>
        </p:txBody>
      </p:sp>
      <p:sp>
        <p:nvSpPr>
          <p:cNvPr id="3" name="Content Placeholder 2">
            <a:extLst>
              <a:ext uri="{FF2B5EF4-FFF2-40B4-BE49-F238E27FC236}">
                <a16:creationId xmlns:a16="http://schemas.microsoft.com/office/drawing/2014/main" id="{D4DDFDCB-211D-40E7-949E-90959D7FA47B}"/>
              </a:ext>
            </a:extLst>
          </p:cNvPr>
          <p:cNvSpPr>
            <a:spLocks noGrp="1"/>
          </p:cNvSpPr>
          <p:nvPr>
            <p:ph idx="1"/>
          </p:nvPr>
        </p:nvSpPr>
        <p:spPr>
          <a:xfrm>
            <a:off x="711200" y="1831975"/>
            <a:ext cx="10515600" cy="4351338"/>
          </a:xfrm>
        </p:spPr>
        <p:txBody>
          <a:bodyPr>
            <a:normAutofit/>
          </a:bodyPr>
          <a:lstStyle/>
          <a:p>
            <a:pPr lvl="1"/>
            <a:r>
              <a:rPr b="1" dirty="0"/>
              <a:t>Aim:</a:t>
            </a:r>
            <a:r>
              <a:rPr dirty="0"/>
              <a:t> to describe the global implications of migrant networks formed at the individual level, while accounting for time-varying demographic individual characteristics and macro levels changes.</a:t>
            </a:r>
          </a:p>
          <a:p>
            <a:pPr lvl="2"/>
            <a:r>
              <a:rPr dirty="0"/>
              <a:t>Case study: Colombian international migration</a:t>
            </a:r>
            <a:r>
              <a:rPr lang="es-ES" dirty="0"/>
              <a:t> </a:t>
            </a:r>
            <a:r>
              <a:rPr lang="es-ES" dirty="0" err="1"/>
              <a:t>to</a:t>
            </a:r>
            <a:r>
              <a:rPr lang="es-ES" dirty="0"/>
              <a:t> LAC, US, and </a:t>
            </a:r>
            <a:r>
              <a:rPr lang="es-ES" dirty="0" err="1"/>
              <a:t>Spain</a:t>
            </a:r>
            <a:r>
              <a:rPr dirty="0"/>
              <a:t> from 196</a:t>
            </a:r>
            <a:r>
              <a:rPr lang="es-ES" dirty="0"/>
              <a:t>1</a:t>
            </a:r>
            <a:r>
              <a:rPr dirty="0"/>
              <a:t> to 20</a:t>
            </a:r>
            <a:r>
              <a:rPr lang="es-ES" dirty="0"/>
              <a:t>09</a:t>
            </a:r>
            <a:r>
              <a:rPr dirty="0"/>
              <a:t>.</a:t>
            </a:r>
          </a:p>
          <a:p>
            <a:pPr lvl="1"/>
            <a:r>
              <a:rPr b="1" dirty="0"/>
              <a:t>Research question: </a:t>
            </a:r>
            <a:endParaRPr lang="es-ES" b="1" dirty="0"/>
          </a:p>
          <a:p>
            <a:pPr lvl="2"/>
            <a:r>
              <a:rPr lang="es-ES" dirty="0"/>
              <a:t>Macro: H</a:t>
            </a:r>
            <a:r>
              <a:rPr dirty="0"/>
              <a:t>ow the number of migrants, annual and cumulative international migration rates of Colombians</a:t>
            </a:r>
            <a:r>
              <a:rPr lang="es-ES" dirty="0"/>
              <a:t> </a:t>
            </a:r>
            <a:r>
              <a:rPr lang="es-ES" dirty="0" err="1"/>
              <a:t>to</a:t>
            </a:r>
            <a:r>
              <a:rPr lang="es-ES" dirty="0"/>
              <a:t> LAC, US, and </a:t>
            </a:r>
            <a:r>
              <a:rPr lang="es-ES" dirty="0" err="1"/>
              <a:t>Spain</a:t>
            </a:r>
            <a:r>
              <a:rPr dirty="0"/>
              <a:t> are affected by changes in the effect of migrant networks formed at the individual level.</a:t>
            </a:r>
          </a:p>
          <a:p>
            <a:pPr lvl="3"/>
            <a:r>
              <a:rPr dirty="0"/>
              <a:t>Are number of migrants relatively constant in the absence of network effects? Do we still observe an S-shaped curve in the cumulative number of migrants and migration rates in the scenario when network effects are disabled?</a:t>
            </a:r>
            <a:endParaRPr lang="es-ES" dirty="0"/>
          </a:p>
          <a:p>
            <a:pPr lvl="3"/>
            <a:r>
              <a:rPr lang="es-ES" dirty="0" err="1"/>
              <a:t>Required</a:t>
            </a:r>
            <a:r>
              <a:rPr lang="es-ES" dirty="0"/>
              <a:t> </a:t>
            </a:r>
            <a:r>
              <a:rPr lang="es-ES" dirty="0" err="1"/>
              <a:t>previous</a:t>
            </a:r>
            <a:r>
              <a:rPr lang="es-ES" dirty="0"/>
              <a:t> step – </a:t>
            </a:r>
            <a:r>
              <a:rPr lang="es-ES" dirty="0" err="1"/>
              <a:t>effect</a:t>
            </a:r>
            <a:r>
              <a:rPr lang="es-ES" dirty="0"/>
              <a:t> at micro </a:t>
            </a:r>
            <a:r>
              <a:rPr lang="es-ES" dirty="0" err="1"/>
              <a:t>level</a:t>
            </a:r>
            <a:r>
              <a:rPr lang="es-ES" dirty="0"/>
              <a:t>: </a:t>
            </a:r>
            <a:r>
              <a:rPr lang="en-US" dirty="0"/>
              <a:t>How are individual probabilities of international migration of Colombians to LAC, US, and Spain affected by migrant networks?</a:t>
            </a:r>
            <a:endParaRPr lang="es-ES" dirty="0"/>
          </a:p>
          <a:p>
            <a:pPr lvl="3"/>
            <a:endParaRPr dirty="0"/>
          </a:p>
        </p:txBody>
      </p:sp>
      <p:sp>
        <p:nvSpPr>
          <p:cNvPr id="4" name="Slide Number Placeholder 3">
            <a:extLst>
              <a:ext uri="{FF2B5EF4-FFF2-40B4-BE49-F238E27FC236}">
                <a16:creationId xmlns:a16="http://schemas.microsoft.com/office/drawing/2014/main" id="{C2E79765-FE27-483E-273C-29718AF1A6F3}"/>
              </a:ext>
            </a:extLst>
          </p:cNvPr>
          <p:cNvSpPr>
            <a:spLocks noGrp="1"/>
          </p:cNvSpPr>
          <p:nvPr>
            <p:ph type="sldNum" sz="quarter" idx="12"/>
          </p:nvPr>
        </p:nvSpPr>
        <p:spPr/>
        <p:txBody>
          <a:bodyPr/>
          <a:lstStyle/>
          <a:p>
            <a:fld id="{8C659ED5-29AE-4BD1-8EF3-23727FB2C0DE}" type="slidenum">
              <a:rPr lang="es-ES" smtClean="0"/>
              <a:t>19</a:t>
            </a:fld>
            <a:endParaRPr lang="es-ES"/>
          </a:p>
        </p:txBody>
      </p:sp>
    </p:spTree>
    <p:extLst>
      <p:ext uri="{BB962C8B-B14F-4D97-AF65-F5344CB8AC3E}">
        <p14:creationId xmlns:p14="http://schemas.microsoft.com/office/powerpoint/2010/main" val="187701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6F414-813E-86B6-52C9-F2AE5CFDE099}"/>
              </a:ext>
            </a:extLst>
          </p:cNvPr>
          <p:cNvSpPr>
            <a:spLocks noGrp="1"/>
          </p:cNvSpPr>
          <p:nvPr>
            <p:ph type="title"/>
          </p:nvPr>
        </p:nvSpPr>
        <p:spPr/>
        <p:txBody>
          <a:bodyPr/>
          <a:lstStyle/>
          <a:p>
            <a:r>
              <a:rPr lang="es-ES" dirty="0" err="1"/>
              <a:t>References</a:t>
            </a:r>
            <a:endParaRPr lang="en-GB" dirty="0"/>
          </a:p>
        </p:txBody>
      </p:sp>
      <p:sp>
        <p:nvSpPr>
          <p:cNvPr id="3" name="Content Placeholder 2">
            <a:extLst>
              <a:ext uri="{FF2B5EF4-FFF2-40B4-BE49-F238E27FC236}">
                <a16:creationId xmlns:a16="http://schemas.microsoft.com/office/drawing/2014/main" id="{C6E41935-3B33-AC41-5897-84956CCD9CF7}"/>
              </a:ext>
            </a:extLst>
          </p:cNvPr>
          <p:cNvSpPr>
            <a:spLocks noGrp="1"/>
          </p:cNvSpPr>
          <p:nvPr>
            <p:ph idx="1"/>
          </p:nvPr>
        </p:nvSpPr>
        <p:spPr/>
        <p:txBody>
          <a:bodyPr>
            <a:normAutofit fontScale="85000" lnSpcReduction="10000"/>
          </a:bodyPr>
          <a:lstStyle/>
          <a:p>
            <a:r>
              <a:rPr lang="en-GB" sz="1800" dirty="0" err="1">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Billari</a:t>
            </a:r>
            <a:r>
              <a:rPr lang="en-GB" sz="1800" dirty="0">
                <a:latin typeface="Calibri" panose="020F0502020204030204" pitchFamily="34" charset="0"/>
                <a:cs typeface="Calibri" panose="020F0502020204030204" pitchFamily="34" charset="0"/>
              </a:rPr>
              <a:t>, </a:t>
            </a:r>
            <a:r>
              <a:rPr lang="en-GB" sz="1800" dirty="0" err="1">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Prskawetz</a:t>
            </a:r>
            <a:r>
              <a:rPr lang="en-GB" sz="1800" dirty="0">
                <a:latin typeface="Calibri" panose="020F0502020204030204" pitchFamily="34" charset="0"/>
                <a:cs typeface="Calibri" panose="020F0502020204030204" pitchFamily="34" charset="0"/>
              </a:rPr>
              <a:t>, Aparicio, </a:t>
            </a:r>
            <a:r>
              <a:rPr lang="en-GB" sz="1800" dirty="0">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Fent</a:t>
            </a:r>
            <a:r>
              <a:rPr lang="en-US" sz="1800" dirty="0">
                <a:latin typeface="Calibri" panose="020F0502020204030204" pitchFamily="34" charset="0"/>
                <a:cs typeface="Calibri" panose="020F0502020204030204" pitchFamily="34" charset="0"/>
              </a:rPr>
              <a:t> (2007) </a:t>
            </a:r>
            <a:r>
              <a:rPr lang="en-GB" sz="1800" dirty="0">
                <a:latin typeface="Calibri" panose="020F0502020204030204" pitchFamily="34" charset="0"/>
                <a:cs typeface="Calibri" panose="020F0502020204030204" pitchFamily="34" charset="0"/>
              </a:rPr>
              <a:t>The "Wedding-Ring": An agent-based marriage model based on social interaction. </a:t>
            </a:r>
            <a:r>
              <a:rPr lang="en-GB" sz="1800" dirty="0" err="1">
                <a:latin typeface="Calibri" panose="020F0502020204030204" pitchFamily="34" charset="0"/>
                <a:cs typeface="Calibri" panose="020F0502020204030204" pitchFamily="34" charset="0"/>
              </a:rPr>
              <a:t>DemRes</a:t>
            </a:r>
            <a:r>
              <a:rPr lang="en-GB" sz="1800" dirty="0">
                <a:latin typeface="Calibri" panose="020F0502020204030204" pitchFamily="34" charset="0"/>
                <a:cs typeface="Calibri" panose="020F0502020204030204" pitchFamily="34" charset="0"/>
              </a:rPr>
              <a:t> 17, 59-82.</a:t>
            </a:r>
          </a:p>
          <a:p>
            <a:r>
              <a:rPr lang="en-US" sz="1800" dirty="0" err="1">
                <a:effectLst/>
                <a:latin typeface="Calibri" panose="020F0502020204030204" pitchFamily="34" charset="0"/>
                <a:ea typeface="Calibri" panose="020F0502020204030204" pitchFamily="34" charset="0"/>
                <a:cs typeface="Calibri" panose="020F0502020204030204" pitchFamily="34" charset="0"/>
              </a:rPr>
              <a:t>Klabunde</a:t>
            </a:r>
            <a:r>
              <a:rPr lang="en-US" sz="1800" dirty="0">
                <a:effectLst/>
                <a:latin typeface="Calibri" panose="020F0502020204030204" pitchFamily="34" charset="0"/>
                <a:ea typeface="Calibri" panose="020F0502020204030204" pitchFamily="34" charset="0"/>
                <a:cs typeface="Calibri" panose="020F0502020204030204" pitchFamily="34" charset="0"/>
              </a:rPr>
              <a:t>, A., Zinn, S., </a:t>
            </a:r>
            <a:r>
              <a:rPr lang="en-US" sz="1800" dirty="0" err="1">
                <a:effectLst/>
                <a:latin typeface="Calibri" panose="020F0502020204030204" pitchFamily="34" charset="0"/>
                <a:ea typeface="Calibri" panose="020F0502020204030204" pitchFamily="34" charset="0"/>
                <a:cs typeface="Calibri" panose="020F0502020204030204" pitchFamily="34" charset="0"/>
              </a:rPr>
              <a:t>Willekens</a:t>
            </a:r>
            <a:r>
              <a:rPr lang="en-US" sz="1800" dirty="0">
                <a:effectLst/>
                <a:latin typeface="Calibri" panose="020F0502020204030204" pitchFamily="34" charset="0"/>
                <a:ea typeface="Calibri" panose="020F0502020204030204" pitchFamily="34" charset="0"/>
                <a:cs typeface="Calibri" panose="020F0502020204030204" pitchFamily="34" charset="0"/>
              </a:rPr>
              <a:t>, F., &amp; </a:t>
            </a:r>
            <a:r>
              <a:rPr lang="en-US" sz="1800" dirty="0" err="1">
                <a:effectLst/>
                <a:latin typeface="Calibri" panose="020F0502020204030204" pitchFamily="34" charset="0"/>
                <a:ea typeface="Calibri" panose="020F0502020204030204" pitchFamily="34" charset="0"/>
                <a:cs typeface="Calibri" panose="020F0502020204030204" pitchFamily="34" charset="0"/>
              </a:rPr>
              <a:t>Leuchter</a:t>
            </a:r>
            <a:r>
              <a:rPr lang="en-US" sz="1800" dirty="0">
                <a:effectLst/>
                <a:latin typeface="Calibri" panose="020F0502020204030204" pitchFamily="34" charset="0"/>
                <a:ea typeface="Calibri" panose="020F0502020204030204" pitchFamily="34" charset="0"/>
                <a:cs typeface="Calibri" panose="020F0502020204030204" pitchFamily="34" charset="0"/>
              </a:rPr>
              <a:t>, M. (2017). Multistate modelling extended by </a:t>
            </a:r>
            <a:r>
              <a:rPr lang="en-US" sz="1800" dirty="0" err="1">
                <a:effectLst/>
                <a:latin typeface="Calibri" panose="020F0502020204030204" pitchFamily="34" charset="0"/>
                <a:ea typeface="Calibri" panose="020F0502020204030204" pitchFamily="34" charset="0"/>
                <a:cs typeface="Calibri" panose="020F0502020204030204" pitchFamily="34" charset="0"/>
              </a:rPr>
              <a:t>behavioural</a:t>
            </a:r>
            <a:r>
              <a:rPr lang="en-US" sz="1800" dirty="0">
                <a:effectLst/>
                <a:latin typeface="Calibri" panose="020F0502020204030204" pitchFamily="34" charset="0"/>
                <a:ea typeface="Calibri" panose="020F0502020204030204" pitchFamily="34" charset="0"/>
                <a:cs typeface="Calibri" panose="020F0502020204030204" pitchFamily="34" charset="0"/>
              </a:rPr>
              <a:t> rules: An application to migration. </a:t>
            </a:r>
            <a:r>
              <a:rPr lang="en-US" sz="1800" i="1" dirty="0">
                <a:effectLst/>
                <a:latin typeface="Calibri" panose="020F0502020204030204" pitchFamily="34" charset="0"/>
                <a:ea typeface="Calibri" panose="020F0502020204030204" pitchFamily="34" charset="0"/>
                <a:cs typeface="Calibri" panose="020F0502020204030204" pitchFamily="34" charset="0"/>
              </a:rPr>
              <a:t>Population Studies</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i="1" dirty="0">
                <a:effectLst/>
                <a:latin typeface="Calibri" panose="020F0502020204030204" pitchFamily="34" charset="0"/>
                <a:ea typeface="Calibri" panose="020F0502020204030204" pitchFamily="34" charset="0"/>
                <a:cs typeface="Calibri" panose="020F0502020204030204" pitchFamily="34" charset="0"/>
              </a:rPr>
              <a:t>71</a:t>
            </a:r>
            <a:r>
              <a:rPr lang="en-US" sz="1800" dirty="0">
                <a:effectLst/>
                <a:latin typeface="Calibri" panose="020F0502020204030204" pitchFamily="34" charset="0"/>
                <a:ea typeface="Calibri" panose="020F0502020204030204" pitchFamily="34" charset="0"/>
                <a:cs typeface="Calibri" panose="020F0502020204030204" pitchFamily="34" charset="0"/>
              </a:rPr>
              <a:t>(November), 51–67. https://doi.org/10.1080/00324728.2017.1350281</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r>
              <a:rPr lang="en-US" sz="1800" dirty="0">
                <a:effectLst/>
                <a:latin typeface="Calibri" panose="020F0502020204030204" pitchFamily="34" charset="0"/>
                <a:ea typeface="Calibri" panose="020F0502020204030204" pitchFamily="34" charset="0"/>
                <a:cs typeface="Calibri" panose="020F0502020204030204" pitchFamily="34" charset="0"/>
              </a:rPr>
              <a:t>Lindstrom, D. P., &amp; López, A. (2010). Pioneers and Followers: Migrant Selectivity and the Development of U.S. Migration Streams in Latin America David. </a:t>
            </a:r>
            <a:r>
              <a:rPr lang="en-US" sz="1800" i="1" dirty="0">
                <a:effectLst/>
                <a:latin typeface="Calibri" panose="020F0502020204030204" pitchFamily="34" charset="0"/>
                <a:ea typeface="Calibri" panose="020F0502020204030204" pitchFamily="34" charset="0"/>
                <a:cs typeface="Calibri" panose="020F0502020204030204" pitchFamily="34" charset="0"/>
              </a:rPr>
              <a:t>Annals of the American Academy of Political and Social Science</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i="1" dirty="0">
                <a:effectLst/>
                <a:latin typeface="Calibri" panose="020F0502020204030204" pitchFamily="34" charset="0"/>
                <a:ea typeface="Calibri" panose="020F0502020204030204" pitchFamily="34" charset="0"/>
                <a:cs typeface="Calibri" panose="020F0502020204030204" pitchFamily="34" charset="0"/>
              </a:rPr>
              <a:t>630</a:t>
            </a:r>
            <a:r>
              <a:rPr lang="en-US" sz="1800" dirty="0">
                <a:effectLst/>
                <a:latin typeface="Calibri" panose="020F0502020204030204" pitchFamily="34" charset="0"/>
                <a:ea typeface="Calibri" panose="020F0502020204030204" pitchFamily="34" charset="0"/>
                <a:cs typeface="Calibri" panose="020F0502020204030204" pitchFamily="34" charset="0"/>
              </a:rPr>
              <a:t>(1), 53–77. https://doi.org/10.1177/0002716210368103.Pioneers</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r>
              <a:rPr lang="en-GB" sz="1800" dirty="0" err="1">
                <a:latin typeface="Calibri" panose="020F0502020204030204" pitchFamily="34" charset="0"/>
                <a:cs typeface="Calibri" panose="020F0502020204030204" pitchFamily="34" charset="0"/>
              </a:rPr>
              <a:t>Sanliturk</a:t>
            </a:r>
            <a:r>
              <a:rPr lang="en-GB" sz="1800" dirty="0">
                <a:latin typeface="Calibri" panose="020F0502020204030204" pitchFamily="34" charset="0"/>
                <a:cs typeface="Calibri" panose="020F0502020204030204" pitchFamily="34" charset="0"/>
              </a:rPr>
              <a:t>, E., </a:t>
            </a:r>
            <a:r>
              <a:rPr lang="en-GB" sz="1800" dirty="0" err="1">
                <a:latin typeface="Calibri" panose="020F0502020204030204" pitchFamily="34" charset="0"/>
                <a:cs typeface="Calibri" panose="020F0502020204030204" pitchFamily="34" charset="0"/>
              </a:rPr>
              <a:t>Zagheni</a:t>
            </a:r>
            <a:r>
              <a:rPr lang="en-GB" sz="1800" dirty="0">
                <a:latin typeface="Calibri" panose="020F0502020204030204" pitchFamily="34" charset="0"/>
                <a:cs typeface="Calibri" panose="020F0502020204030204" pitchFamily="34" charset="0"/>
              </a:rPr>
              <a:t>, E., Da, M. J., </a:t>
            </a:r>
            <a:r>
              <a:rPr lang="en-GB" sz="1800" dirty="0" err="1">
                <a:latin typeface="Calibri" panose="020F0502020204030204" pitchFamily="34" charset="0"/>
                <a:cs typeface="Calibri" panose="020F0502020204030204" pitchFamily="34" charset="0"/>
              </a:rPr>
              <a:t>Theile</a:t>
            </a:r>
            <a:r>
              <a:rPr lang="en-GB" sz="1800" dirty="0">
                <a:latin typeface="Calibri" panose="020F0502020204030204" pitchFamily="34" charset="0"/>
                <a:cs typeface="Calibri" panose="020F0502020204030204" pitchFamily="34" charset="0"/>
              </a:rPr>
              <a:t>, T., </a:t>
            </a:r>
            <a:r>
              <a:rPr lang="en-GB" sz="1800" dirty="0" err="1">
                <a:latin typeface="Calibri" panose="020F0502020204030204" pitchFamily="34" charset="0"/>
                <a:cs typeface="Calibri" panose="020F0502020204030204" pitchFamily="34" charset="0"/>
              </a:rPr>
              <a:t>Akbaritabar</a:t>
            </a:r>
            <a:r>
              <a:rPr lang="en-GB" sz="1800" dirty="0">
                <a:latin typeface="Calibri" panose="020F0502020204030204" pitchFamily="34" charset="0"/>
                <a:cs typeface="Calibri" panose="020F0502020204030204" pitchFamily="34" charset="0"/>
              </a:rPr>
              <a:t>, A., Edited by Ronald Lee, I., &amp; contributions, A. (2023). Global patterns of migration of scholars with economic development. 120, 2217937120. https://doi.org/10.1073/pnas</a:t>
            </a:r>
          </a:p>
          <a:p>
            <a:r>
              <a:rPr lang="en-US" sz="1800" dirty="0">
                <a:effectLst/>
                <a:latin typeface="Calibri" panose="020F0502020204030204" pitchFamily="34" charset="0"/>
                <a:ea typeface="Calibri" panose="020F0502020204030204" pitchFamily="34" charset="0"/>
                <a:cs typeface="Calibri" panose="020F0502020204030204" pitchFamily="34" charset="0"/>
              </a:rPr>
              <a:t>Silva, A. C., &amp; Massey, D. S. (2014). Violence, Networks, and International Migration from Colombia. </a:t>
            </a:r>
            <a:r>
              <a:rPr lang="en-US" sz="1800" i="1" dirty="0">
                <a:effectLst/>
                <a:latin typeface="Calibri" panose="020F0502020204030204" pitchFamily="34" charset="0"/>
                <a:ea typeface="Calibri" panose="020F0502020204030204" pitchFamily="34" charset="0"/>
                <a:cs typeface="Calibri" panose="020F0502020204030204" pitchFamily="34" charset="0"/>
              </a:rPr>
              <a:t>International Migration</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i="1" dirty="0">
                <a:effectLst/>
                <a:latin typeface="Calibri" panose="020F0502020204030204" pitchFamily="34" charset="0"/>
                <a:ea typeface="Calibri" panose="020F0502020204030204" pitchFamily="34" charset="0"/>
                <a:cs typeface="Calibri" panose="020F0502020204030204" pitchFamily="34" charset="0"/>
              </a:rPr>
              <a:t>53</a:t>
            </a:r>
            <a:r>
              <a:rPr lang="en-US" sz="1800" dirty="0">
                <a:effectLst/>
                <a:latin typeface="Calibri" panose="020F0502020204030204" pitchFamily="34" charset="0"/>
                <a:ea typeface="Calibri" panose="020F0502020204030204" pitchFamily="34" charset="0"/>
                <a:cs typeface="Calibri" panose="020F0502020204030204" pitchFamily="34" charset="0"/>
              </a:rPr>
              <a:t>(5), 162–178. https://doi.org/10.1111/imig.12169</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r>
              <a:rPr lang="en-US" sz="1800" dirty="0" err="1">
                <a:effectLst/>
                <a:latin typeface="Calibri" panose="020F0502020204030204" pitchFamily="34" charset="0"/>
                <a:ea typeface="Calibri" panose="020F0502020204030204" pitchFamily="34" charset="0"/>
                <a:cs typeface="Calibri" panose="020F0502020204030204" pitchFamily="34" charset="0"/>
              </a:rPr>
              <a:t>Willekens</a:t>
            </a:r>
            <a:r>
              <a:rPr lang="en-US" sz="1800" dirty="0">
                <a:effectLst/>
                <a:latin typeface="Calibri" panose="020F0502020204030204" pitchFamily="34" charset="0"/>
                <a:ea typeface="Calibri" panose="020F0502020204030204" pitchFamily="34" charset="0"/>
                <a:cs typeface="Calibri" panose="020F0502020204030204" pitchFamily="34" charset="0"/>
              </a:rPr>
              <a:t>, F. (2017). </a:t>
            </a:r>
            <a:r>
              <a:rPr lang="en-US" sz="1800" i="1" dirty="0">
                <a:effectLst/>
                <a:latin typeface="Calibri" panose="020F0502020204030204" pitchFamily="34" charset="0"/>
                <a:ea typeface="Calibri" panose="020F0502020204030204" pitchFamily="34" charset="0"/>
                <a:cs typeface="Calibri" panose="020F0502020204030204" pitchFamily="34" charset="0"/>
              </a:rPr>
              <a:t>The Decision to Emigrate: A Simulation Model</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i="1" dirty="0">
                <a:effectLst/>
                <a:latin typeface="Calibri" panose="020F0502020204030204" pitchFamily="34" charset="0"/>
                <a:ea typeface="Calibri" panose="020F0502020204030204" pitchFamily="34" charset="0"/>
                <a:cs typeface="Calibri" panose="020F0502020204030204" pitchFamily="34" charset="0"/>
              </a:rPr>
              <a:t>Agent-Based Modelling in Population Studies</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hlinkClick r:id="rId5"/>
              </a:rPr>
              <a:t>https://doi.org/10.1007/978-3-319-32283-4</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r>
              <a:rPr lang="en-US" sz="1800" dirty="0">
                <a:effectLst/>
                <a:latin typeface="Calibri" panose="020F0502020204030204" pitchFamily="34" charset="0"/>
                <a:ea typeface="Calibri" panose="020F0502020204030204" pitchFamily="34" charset="0"/>
                <a:cs typeface="Calibri" panose="020F0502020204030204" pitchFamily="34" charset="0"/>
              </a:rPr>
              <a:t>Williams, N., O’Brien, M., &amp; Yao, X. (2017). Using Survey Data for Agent-Based Modeling: Design and Challenges in a Model of Armed Conflict and Population Change. In Andree Grow &amp; J. Van </a:t>
            </a:r>
            <a:r>
              <a:rPr lang="en-US" sz="1800" dirty="0" err="1">
                <a:effectLst/>
                <a:latin typeface="Calibri" panose="020F0502020204030204" pitchFamily="34" charset="0"/>
                <a:ea typeface="Calibri" panose="020F0502020204030204" pitchFamily="34" charset="0"/>
                <a:cs typeface="Calibri" panose="020F0502020204030204" pitchFamily="34" charset="0"/>
              </a:rPr>
              <a:t>Bavel</a:t>
            </a:r>
            <a:r>
              <a:rPr lang="en-US" sz="1800" dirty="0">
                <a:effectLst/>
                <a:latin typeface="Calibri" panose="020F0502020204030204" pitchFamily="34" charset="0"/>
                <a:ea typeface="Calibri" panose="020F0502020204030204" pitchFamily="34" charset="0"/>
                <a:cs typeface="Calibri" panose="020F0502020204030204" pitchFamily="34" charset="0"/>
              </a:rPr>
              <a:t> (Eds.), </a:t>
            </a:r>
            <a:r>
              <a:rPr lang="en-US" sz="1800" i="1" dirty="0">
                <a:effectLst/>
                <a:latin typeface="Calibri" panose="020F0502020204030204" pitchFamily="34" charset="0"/>
                <a:ea typeface="Calibri" panose="020F0502020204030204" pitchFamily="34" charset="0"/>
                <a:cs typeface="Calibri" panose="020F0502020204030204" pitchFamily="34" charset="0"/>
              </a:rPr>
              <a:t>Agent-Based Modelling in Population Studies</a:t>
            </a:r>
            <a:r>
              <a:rPr lang="en-US" sz="1800" dirty="0">
                <a:effectLst/>
                <a:latin typeface="Calibri" panose="020F0502020204030204" pitchFamily="34" charset="0"/>
                <a:ea typeface="Calibri" panose="020F0502020204030204" pitchFamily="34" charset="0"/>
                <a:cs typeface="Calibri" panose="020F0502020204030204" pitchFamily="34" charset="0"/>
              </a:rPr>
              <a:t> (pp. 159–184). Springer. https://doi.org/10.1007/978-3-319-32283-4_6</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r>
              <a:rPr lang="en-US" sz="1800" dirty="0" err="1">
                <a:effectLst/>
                <a:latin typeface="Calibri" panose="020F0502020204030204" pitchFamily="34" charset="0"/>
                <a:ea typeface="Calibri" panose="020F0502020204030204" pitchFamily="34" charset="0"/>
                <a:cs typeface="Calibri" panose="020F0502020204030204" pitchFamily="34" charset="0"/>
              </a:rPr>
              <a:t>Zagheni</a:t>
            </a:r>
            <a:r>
              <a:rPr lang="en-US" sz="1800" dirty="0">
                <a:effectLst/>
                <a:latin typeface="Calibri" panose="020F0502020204030204" pitchFamily="34" charset="0"/>
                <a:ea typeface="Calibri" panose="020F0502020204030204" pitchFamily="34" charset="0"/>
                <a:cs typeface="Calibri" panose="020F0502020204030204" pitchFamily="34" charset="0"/>
              </a:rPr>
              <a:t>, E. (2015). Microsimulation in Demographic Research. In J. D. Wright (Ed.), </a:t>
            </a:r>
            <a:r>
              <a:rPr lang="en-US" sz="1800" i="1" dirty="0">
                <a:effectLst/>
                <a:latin typeface="Calibri" panose="020F0502020204030204" pitchFamily="34" charset="0"/>
                <a:ea typeface="Calibri" panose="020F0502020204030204" pitchFamily="34" charset="0"/>
                <a:cs typeface="Calibri" panose="020F0502020204030204" pitchFamily="34" charset="0"/>
              </a:rPr>
              <a:t>International Encyclopedia of the Social &amp; Behavioral Sciences</a:t>
            </a:r>
            <a:r>
              <a:rPr lang="en-US" sz="1800" dirty="0">
                <a:effectLst/>
                <a:latin typeface="Calibri" panose="020F0502020204030204" pitchFamily="34" charset="0"/>
                <a:ea typeface="Calibri" panose="020F0502020204030204" pitchFamily="34" charset="0"/>
                <a:cs typeface="Calibri" panose="020F0502020204030204" pitchFamily="34" charset="0"/>
              </a:rPr>
              <a:t>. https://doi.org/10.1016/b0-08-043076-7/02115-x</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endParaRPr lang="en-GB" sz="1800" dirty="0">
              <a:effectLst/>
              <a:latin typeface="Calibri" panose="020F0502020204030204" pitchFamily="34" charset="0"/>
              <a:ea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2011959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D4C3-2771-2ECA-3A40-9AE014D8725C}"/>
              </a:ext>
            </a:extLst>
          </p:cNvPr>
          <p:cNvSpPr>
            <a:spLocks noGrp="1"/>
          </p:cNvSpPr>
          <p:nvPr>
            <p:ph type="title"/>
          </p:nvPr>
        </p:nvSpPr>
        <p:spPr/>
        <p:txBody>
          <a:bodyPr/>
          <a:lstStyle/>
          <a:p>
            <a:r>
              <a:rPr lang="es-ES" dirty="0" err="1"/>
              <a:t>Thanks</a:t>
            </a:r>
            <a:r>
              <a:rPr lang="es-ES" dirty="0"/>
              <a:t>!</a:t>
            </a:r>
            <a:br>
              <a:rPr lang="en-GB" dirty="0"/>
            </a:br>
            <a:endParaRPr lang="en-GB" dirty="0"/>
          </a:p>
        </p:txBody>
      </p:sp>
    </p:spTree>
    <p:extLst>
      <p:ext uri="{BB962C8B-B14F-4D97-AF65-F5344CB8AC3E}">
        <p14:creationId xmlns:p14="http://schemas.microsoft.com/office/powerpoint/2010/main" val="2134528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AF2A-1E92-4745-8A44-907398137C2A}"/>
              </a:ext>
            </a:extLst>
          </p:cNvPr>
          <p:cNvSpPr>
            <a:spLocks noGrp="1"/>
          </p:cNvSpPr>
          <p:nvPr>
            <p:ph type="title"/>
          </p:nvPr>
        </p:nvSpPr>
        <p:spPr/>
        <p:txBody>
          <a:bodyPr>
            <a:normAutofit/>
          </a:bodyPr>
          <a:lstStyle/>
          <a:p>
            <a:r>
              <a:rPr dirty="0">
                <a:solidFill>
                  <a:schemeClr val="accent1"/>
                </a:solidFill>
              </a:rPr>
              <a:t>Methods: Agent Based Model characteristics</a:t>
            </a:r>
          </a:p>
        </p:txBody>
      </p:sp>
      <p:sp>
        <p:nvSpPr>
          <p:cNvPr id="3" name="Content Placeholder 2">
            <a:extLst>
              <a:ext uri="{FF2B5EF4-FFF2-40B4-BE49-F238E27FC236}">
                <a16:creationId xmlns:a16="http://schemas.microsoft.com/office/drawing/2014/main" id="{D4DDFDCB-211D-40E7-949E-90959D7FA47B}"/>
              </a:ext>
            </a:extLst>
          </p:cNvPr>
          <p:cNvSpPr>
            <a:spLocks noGrp="1"/>
          </p:cNvSpPr>
          <p:nvPr>
            <p:ph idx="1"/>
          </p:nvPr>
        </p:nvSpPr>
        <p:spPr/>
        <p:txBody>
          <a:bodyPr>
            <a:normAutofit lnSpcReduction="10000"/>
          </a:bodyPr>
          <a:lstStyle/>
          <a:p>
            <a:pPr lvl="1"/>
            <a:r>
              <a:rPr dirty="0"/>
              <a:t>Modelling purpose is mostly </a:t>
            </a:r>
            <a:r>
              <a:rPr b="1" dirty="0"/>
              <a:t>empirical</a:t>
            </a:r>
            <a:r>
              <a:rPr dirty="0"/>
              <a:t> and of </a:t>
            </a:r>
            <a:r>
              <a:rPr b="1" dirty="0"/>
              <a:t>explanatory</a:t>
            </a:r>
            <a:r>
              <a:rPr dirty="0"/>
              <a:t> nature.</a:t>
            </a:r>
          </a:p>
          <a:p>
            <a:pPr lvl="1"/>
            <a:r>
              <a:rPr dirty="0"/>
              <a:t>Agents have three possible </a:t>
            </a:r>
            <a:r>
              <a:rPr b="1" dirty="0"/>
              <a:t>states</a:t>
            </a:r>
            <a:r>
              <a:rPr dirty="0"/>
              <a:t>, namely: inactive, potential, migrant.</a:t>
            </a:r>
          </a:p>
          <a:p>
            <a:pPr lvl="1"/>
            <a:r>
              <a:rPr b="1" dirty="0"/>
              <a:t>Evaluation</a:t>
            </a:r>
            <a:r>
              <a:rPr dirty="0"/>
              <a:t> of agents: potential migrants get their migration probability computed based on an update function based on the fitted parameters and the agent’s sociodemographic values, as well as the institutional conditions at that time.</a:t>
            </a:r>
          </a:p>
          <a:p>
            <a:pPr lvl="1"/>
            <a:r>
              <a:rPr dirty="0"/>
              <a:t>Agents represent individuals.</a:t>
            </a:r>
          </a:p>
          <a:p>
            <a:pPr lvl="1"/>
            <a:r>
              <a:rPr dirty="0"/>
              <a:t>Agents properties (time-</a:t>
            </a:r>
            <a:r>
              <a:rPr dirty="0" err="1"/>
              <a:t>variante</a:t>
            </a:r>
            <a:r>
              <a:rPr dirty="0"/>
              <a:t>/constant): sociodemographic and presence of migrant network.</a:t>
            </a:r>
          </a:p>
          <a:p>
            <a:pPr lvl="1"/>
            <a:r>
              <a:rPr dirty="0"/>
              <a:t>Contextual characteristics are also considered in the yearly computation of agents migration probability.</a:t>
            </a:r>
          </a:p>
          <a:p>
            <a:pPr lvl="1"/>
            <a:r>
              <a:rPr dirty="0"/>
              <a:t>Time scale: years</a:t>
            </a:r>
          </a:p>
          <a:p>
            <a:pPr lvl="1"/>
            <a:r>
              <a:rPr dirty="0"/>
              <a:t>Simulation parameters: all coefficients from statistical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2912</TotalTime>
  <Words>1488</Words>
  <Application>Microsoft Office PowerPoint</Application>
  <PresentationFormat>Widescreen</PresentationFormat>
  <Paragraphs>132</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Google Sans</vt:lpstr>
      <vt:lpstr>Times New Roman</vt:lpstr>
      <vt:lpstr>Office Theme</vt:lpstr>
      <vt:lpstr>Using survey-based ABM in migration research.</vt:lpstr>
      <vt:lpstr>Structure</vt:lpstr>
      <vt:lpstr>Agent-based models: what is this method and why to use it? </vt:lpstr>
      <vt:lpstr>Some classic examples:</vt:lpstr>
      <vt:lpstr>Other examples and applications in:</vt:lpstr>
      <vt:lpstr>ABM example in   (Simple) Decision-making model of migration in – three stages</vt:lpstr>
      <vt:lpstr>Theoretical ABM: let’s have a look to the Julia code.</vt:lpstr>
      <vt:lpstr>How do survey-based ABMs look like? </vt:lpstr>
      <vt:lpstr>“Implementing Agent Based Modelling (ABM) informed by survey data in three steps”</vt:lpstr>
      <vt:lpstr>Data</vt:lpstr>
      <vt:lpstr>We can also add information on macro level changes, such as the relative changes in border stringency in the US and Spain. </vt:lpstr>
      <vt:lpstr>Survey-based ABM in </vt:lpstr>
      <vt:lpstr>Default scenario, all networks and all macro variables disabled</vt:lpstr>
      <vt:lpstr>Default scenario, family networks and community networks disabled</vt:lpstr>
      <vt:lpstr>Default, violence, GDP, employment growth, and border scenarios</vt:lpstr>
      <vt:lpstr>Annex</vt:lpstr>
      <vt:lpstr>Example 3:  Billari et al 2007 studied the role of social pressure on aggregated marriage rates.</vt:lpstr>
      <vt:lpstr>ABM methods in four steps</vt:lpstr>
      <vt:lpstr>Aim and Research question.</vt:lpstr>
      <vt:lpstr>References</vt:lpstr>
      <vt:lpstr>Thanks! </vt:lpstr>
      <vt:lpstr>Methods: Agent Based Model characteristics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JOSÉ IGNACIO CARRASCO ARMIJO</dc:creator>
  <cp:lastModifiedBy>JOSÉ IGNACIO CARRASCO ARMIJO</cp:lastModifiedBy>
  <cp:revision>86</cp:revision>
  <dcterms:created xsi:type="dcterms:W3CDTF">2023-02-23T12:14:54Z</dcterms:created>
  <dcterms:modified xsi:type="dcterms:W3CDTF">2023-06-27T10:54:32Z</dcterms:modified>
</cp:coreProperties>
</file>